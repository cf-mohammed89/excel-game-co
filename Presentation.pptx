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ink/ink1.xml" ContentType="application/inkml+xml"/>
  <Override PartName="/ppt/ink/ink2.xml" ContentType="application/inkml+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2" r:id="rId4"/>
    <p:sldId id="258" r:id="rId5"/>
    <p:sldId id="259"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73"/>
  </p:normalViewPr>
  <p:slideViewPr>
    <p:cSldViewPr snapToGrid="0">
      <p:cViewPr varScale="1">
        <p:scale>
          <a:sx n="104" d="100"/>
          <a:sy n="104" d="100"/>
        </p:scale>
        <p:origin x="232"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Users/mohammedRusso/Documents/DATA_ANALYST_COURSE/DataAnalyst_Resources/Ex-1.8-MM-templat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mohammedRusso/Documents/DATA_ANALYST_COURSE/DataAnalyst_Resources/Ex-1.8-MM-templat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mohammedRusso/Documents/DATA_ANALYST_COURSE/DataAnalyst_Resources/Ex-1.8-MM-template.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oleObject" Target="file:////Users/mohammedRusso/Documents/DATA_ANALYST_COURSE/DataAnalyst_Resources/Ex-1.8-MM-templat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mohammedRusso/Documents/DATA_ANALYST_COURSE/DataAnalyst_Resources/Ex-1.8-MM-template.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[Ex-1.8-MM-template.xlsx]Sheet1!PivotTable3</c:name>
    <c:fmtId val="12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Global sales figures of popular genres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w="28575" cap="rnd">
            <a:solidFill>
              <a:schemeClr val="accent1"/>
            </a:solidFill>
            <a:round/>
          </a:ln>
          <a:effectLst/>
        </c:spPr>
      </c:pivotFmt>
      <c:pivotFmt>
        <c:idx val="2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Sheet1!$B$3:$B$4</c:f>
              <c:strCache>
                <c:ptCount val="1"/>
                <c:pt idx="0">
                  <c:v>Action</c:v>
                </c:pt>
              </c:strCache>
            </c:strRef>
          </c:tx>
          <c:spPr>
            <a:ln w="28575" cap="rnd">
              <a:solidFill>
                <a:schemeClr val="accent1"/>
              </a:solidFill>
              <a:round/>
            </a:ln>
            <a:effectLst/>
          </c:spPr>
          <c:marker>
            <c:symbol val="none"/>
          </c:marker>
          <c:cat>
            <c:strRef>
              <c:f>Sheet1!$A$5:$A$16</c:f>
              <c:strCache>
                <c:ptCount val="11"/>
                <c:pt idx="0">
                  <c:v>2006</c:v>
                </c:pt>
                <c:pt idx="1">
                  <c:v>2007</c:v>
                </c:pt>
                <c:pt idx="2">
                  <c:v>2008</c:v>
                </c:pt>
                <c:pt idx="3">
                  <c:v>2009</c:v>
                </c:pt>
                <c:pt idx="4">
                  <c:v>2010</c:v>
                </c:pt>
                <c:pt idx="5">
                  <c:v>2011</c:v>
                </c:pt>
                <c:pt idx="6">
                  <c:v>2012</c:v>
                </c:pt>
                <c:pt idx="7">
                  <c:v>2013</c:v>
                </c:pt>
                <c:pt idx="8">
                  <c:v>2014</c:v>
                </c:pt>
                <c:pt idx="9">
                  <c:v>2015</c:v>
                </c:pt>
                <c:pt idx="10">
                  <c:v>2016</c:v>
                </c:pt>
              </c:strCache>
            </c:strRef>
          </c:cat>
          <c:val>
            <c:numRef>
              <c:f>Sheet1!$B$5:$B$16</c:f>
              <c:numCache>
                <c:formatCode>General</c:formatCode>
                <c:ptCount val="11"/>
                <c:pt idx="0">
                  <c:v>66.580000000000013</c:v>
                </c:pt>
                <c:pt idx="1">
                  <c:v>106.50000000000004</c:v>
                </c:pt>
                <c:pt idx="2">
                  <c:v>136.3899999999999</c:v>
                </c:pt>
                <c:pt idx="3">
                  <c:v>139.35999999999993</c:v>
                </c:pt>
                <c:pt idx="4">
                  <c:v>117.64000000000006</c:v>
                </c:pt>
                <c:pt idx="5">
                  <c:v>118.96000000000005</c:v>
                </c:pt>
                <c:pt idx="6">
                  <c:v>122.04000000000003</c:v>
                </c:pt>
                <c:pt idx="7">
                  <c:v>125.21999999999997</c:v>
                </c:pt>
                <c:pt idx="8">
                  <c:v>99.02000000000011</c:v>
                </c:pt>
                <c:pt idx="9">
                  <c:v>70.700000000000031</c:v>
                </c:pt>
                <c:pt idx="10">
                  <c:v>19.910000000000004</c:v>
                </c:pt>
              </c:numCache>
            </c:numRef>
          </c:val>
          <c:smooth val="0"/>
          <c:extLst>
            <c:ext xmlns:c16="http://schemas.microsoft.com/office/drawing/2014/chart" uri="{C3380CC4-5D6E-409C-BE32-E72D297353CC}">
              <c16:uniqueId val="{00000000-BEFB-3447-A517-672FED54CCFE}"/>
            </c:ext>
          </c:extLst>
        </c:ser>
        <c:ser>
          <c:idx val="1"/>
          <c:order val="1"/>
          <c:tx>
            <c:strRef>
              <c:f>Sheet1!$C$3:$C$4</c:f>
              <c:strCache>
                <c:ptCount val="1"/>
                <c:pt idx="0">
                  <c:v>Adventure</c:v>
                </c:pt>
              </c:strCache>
            </c:strRef>
          </c:tx>
          <c:spPr>
            <a:ln w="28575" cap="rnd">
              <a:solidFill>
                <a:schemeClr val="accent2"/>
              </a:solidFill>
              <a:round/>
            </a:ln>
            <a:effectLst/>
          </c:spPr>
          <c:marker>
            <c:symbol val="none"/>
          </c:marker>
          <c:cat>
            <c:strRef>
              <c:f>Sheet1!$A$5:$A$16</c:f>
              <c:strCache>
                <c:ptCount val="11"/>
                <c:pt idx="0">
                  <c:v>2006</c:v>
                </c:pt>
                <c:pt idx="1">
                  <c:v>2007</c:v>
                </c:pt>
                <c:pt idx="2">
                  <c:v>2008</c:v>
                </c:pt>
                <c:pt idx="3">
                  <c:v>2009</c:v>
                </c:pt>
                <c:pt idx="4">
                  <c:v>2010</c:v>
                </c:pt>
                <c:pt idx="5">
                  <c:v>2011</c:v>
                </c:pt>
                <c:pt idx="6">
                  <c:v>2012</c:v>
                </c:pt>
                <c:pt idx="7">
                  <c:v>2013</c:v>
                </c:pt>
                <c:pt idx="8">
                  <c:v>2014</c:v>
                </c:pt>
                <c:pt idx="9">
                  <c:v>2015</c:v>
                </c:pt>
                <c:pt idx="10">
                  <c:v>2016</c:v>
                </c:pt>
              </c:strCache>
            </c:strRef>
          </c:cat>
          <c:val>
            <c:numRef>
              <c:f>Sheet1!$C$5:$C$16</c:f>
              <c:numCache>
                <c:formatCode>General</c:formatCode>
                <c:ptCount val="11"/>
                <c:pt idx="0">
                  <c:v>11.429999999999998</c:v>
                </c:pt>
                <c:pt idx="1">
                  <c:v>24.43</c:v>
                </c:pt>
                <c:pt idx="2">
                  <c:v>24.899999999999988</c:v>
                </c:pt>
                <c:pt idx="3">
                  <c:v>20.600000000000009</c:v>
                </c:pt>
                <c:pt idx="4">
                  <c:v>16.489999999999995</c:v>
                </c:pt>
                <c:pt idx="5">
                  <c:v>15.899999999999986</c:v>
                </c:pt>
                <c:pt idx="6">
                  <c:v>5.9900000000000011</c:v>
                </c:pt>
                <c:pt idx="7">
                  <c:v>6.5299999999999967</c:v>
                </c:pt>
                <c:pt idx="8">
                  <c:v>6.0600000000000014</c:v>
                </c:pt>
                <c:pt idx="9">
                  <c:v>7.9899999999999958</c:v>
                </c:pt>
                <c:pt idx="10">
                  <c:v>1.7700000000000002</c:v>
                </c:pt>
              </c:numCache>
            </c:numRef>
          </c:val>
          <c:smooth val="0"/>
          <c:extLst>
            <c:ext xmlns:c16="http://schemas.microsoft.com/office/drawing/2014/chart" uri="{C3380CC4-5D6E-409C-BE32-E72D297353CC}">
              <c16:uniqueId val="{00000001-BEFB-3447-A517-672FED54CCFE}"/>
            </c:ext>
          </c:extLst>
        </c:ser>
        <c:ser>
          <c:idx val="2"/>
          <c:order val="2"/>
          <c:tx>
            <c:strRef>
              <c:f>Sheet1!$D$3:$D$4</c:f>
              <c:strCache>
                <c:ptCount val="1"/>
                <c:pt idx="0">
                  <c:v>Fighting</c:v>
                </c:pt>
              </c:strCache>
            </c:strRef>
          </c:tx>
          <c:spPr>
            <a:ln w="28575" cap="rnd">
              <a:solidFill>
                <a:schemeClr val="accent3"/>
              </a:solidFill>
              <a:round/>
            </a:ln>
            <a:effectLst/>
          </c:spPr>
          <c:marker>
            <c:symbol val="none"/>
          </c:marker>
          <c:cat>
            <c:strRef>
              <c:f>Sheet1!$A$5:$A$16</c:f>
              <c:strCache>
                <c:ptCount val="11"/>
                <c:pt idx="0">
                  <c:v>2006</c:v>
                </c:pt>
                <c:pt idx="1">
                  <c:v>2007</c:v>
                </c:pt>
                <c:pt idx="2">
                  <c:v>2008</c:v>
                </c:pt>
                <c:pt idx="3">
                  <c:v>2009</c:v>
                </c:pt>
                <c:pt idx="4">
                  <c:v>2010</c:v>
                </c:pt>
                <c:pt idx="5">
                  <c:v>2011</c:v>
                </c:pt>
                <c:pt idx="6">
                  <c:v>2012</c:v>
                </c:pt>
                <c:pt idx="7">
                  <c:v>2013</c:v>
                </c:pt>
                <c:pt idx="8">
                  <c:v>2014</c:v>
                </c:pt>
                <c:pt idx="9">
                  <c:v>2015</c:v>
                </c:pt>
                <c:pt idx="10">
                  <c:v>2016</c:v>
                </c:pt>
              </c:strCache>
            </c:strRef>
          </c:cat>
          <c:val>
            <c:numRef>
              <c:f>Sheet1!$D$5:$D$16</c:f>
              <c:numCache>
                <c:formatCode>General</c:formatCode>
                <c:ptCount val="11"/>
                <c:pt idx="0">
                  <c:v>22.54999999999999</c:v>
                </c:pt>
                <c:pt idx="1">
                  <c:v>17.61</c:v>
                </c:pt>
                <c:pt idx="2">
                  <c:v>35.37999999999996</c:v>
                </c:pt>
                <c:pt idx="3">
                  <c:v>32.149999999999991</c:v>
                </c:pt>
                <c:pt idx="4">
                  <c:v>14.890000000000006</c:v>
                </c:pt>
                <c:pt idx="5">
                  <c:v>22.680000000000003</c:v>
                </c:pt>
                <c:pt idx="6">
                  <c:v>9.51</c:v>
                </c:pt>
                <c:pt idx="7">
                  <c:v>7.21</c:v>
                </c:pt>
                <c:pt idx="8">
                  <c:v>16.150000000000002</c:v>
                </c:pt>
                <c:pt idx="9">
                  <c:v>7.7799999999999994</c:v>
                </c:pt>
                <c:pt idx="10">
                  <c:v>3.8599999999999994</c:v>
                </c:pt>
              </c:numCache>
            </c:numRef>
          </c:val>
          <c:smooth val="0"/>
          <c:extLst>
            <c:ext xmlns:c16="http://schemas.microsoft.com/office/drawing/2014/chart" uri="{C3380CC4-5D6E-409C-BE32-E72D297353CC}">
              <c16:uniqueId val="{00000002-BEFB-3447-A517-672FED54CCFE}"/>
            </c:ext>
          </c:extLst>
        </c:ser>
        <c:ser>
          <c:idx val="3"/>
          <c:order val="3"/>
          <c:tx>
            <c:strRef>
              <c:f>Sheet1!$E$3:$E$4</c:f>
              <c:strCache>
                <c:ptCount val="1"/>
                <c:pt idx="0">
                  <c:v>Platform</c:v>
                </c:pt>
              </c:strCache>
            </c:strRef>
          </c:tx>
          <c:spPr>
            <a:ln w="28575" cap="rnd">
              <a:solidFill>
                <a:schemeClr val="accent4"/>
              </a:solidFill>
              <a:round/>
            </a:ln>
            <a:effectLst/>
          </c:spPr>
          <c:marker>
            <c:symbol val="none"/>
          </c:marker>
          <c:cat>
            <c:strRef>
              <c:f>Sheet1!$A$5:$A$16</c:f>
              <c:strCache>
                <c:ptCount val="11"/>
                <c:pt idx="0">
                  <c:v>2006</c:v>
                </c:pt>
                <c:pt idx="1">
                  <c:v>2007</c:v>
                </c:pt>
                <c:pt idx="2">
                  <c:v>2008</c:v>
                </c:pt>
                <c:pt idx="3">
                  <c:v>2009</c:v>
                </c:pt>
                <c:pt idx="4">
                  <c:v>2010</c:v>
                </c:pt>
                <c:pt idx="5">
                  <c:v>2011</c:v>
                </c:pt>
                <c:pt idx="6">
                  <c:v>2012</c:v>
                </c:pt>
                <c:pt idx="7">
                  <c:v>2013</c:v>
                </c:pt>
                <c:pt idx="8">
                  <c:v>2014</c:v>
                </c:pt>
                <c:pt idx="9">
                  <c:v>2015</c:v>
                </c:pt>
                <c:pt idx="10">
                  <c:v>2016</c:v>
                </c:pt>
              </c:strCache>
            </c:strRef>
          </c:cat>
          <c:val>
            <c:numRef>
              <c:f>Sheet1!$E$5:$E$16</c:f>
              <c:numCache>
                <c:formatCode>General</c:formatCode>
                <c:ptCount val="11"/>
                <c:pt idx="0">
                  <c:v>49.800000000000004</c:v>
                </c:pt>
                <c:pt idx="1">
                  <c:v>35.589999999999996</c:v>
                </c:pt>
                <c:pt idx="2">
                  <c:v>35.700000000000017</c:v>
                </c:pt>
                <c:pt idx="3">
                  <c:v>41.090000000000011</c:v>
                </c:pt>
                <c:pt idx="4">
                  <c:v>31.900000000000002</c:v>
                </c:pt>
                <c:pt idx="5">
                  <c:v>28.109999999999992</c:v>
                </c:pt>
                <c:pt idx="6">
                  <c:v>18.549999999999997</c:v>
                </c:pt>
                <c:pt idx="7">
                  <c:v>25.12</c:v>
                </c:pt>
                <c:pt idx="8">
                  <c:v>8.89</c:v>
                </c:pt>
                <c:pt idx="9">
                  <c:v>6.0500000000000016</c:v>
                </c:pt>
                <c:pt idx="10">
                  <c:v>2.0700000000000003</c:v>
                </c:pt>
              </c:numCache>
            </c:numRef>
          </c:val>
          <c:smooth val="0"/>
          <c:extLst>
            <c:ext xmlns:c16="http://schemas.microsoft.com/office/drawing/2014/chart" uri="{C3380CC4-5D6E-409C-BE32-E72D297353CC}">
              <c16:uniqueId val="{00000003-BEFB-3447-A517-672FED54CCFE}"/>
            </c:ext>
          </c:extLst>
        </c:ser>
        <c:ser>
          <c:idx val="4"/>
          <c:order val="4"/>
          <c:tx>
            <c:strRef>
              <c:f>Sheet1!$F$3:$F$4</c:f>
              <c:strCache>
                <c:ptCount val="1"/>
                <c:pt idx="0">
                  <c:v>Racing</c:v>
                </c:pt>
              </c:strCache>
            </c:strRef>
          </c:tx>
          <c:spPr>
            <a:ln w="28575" cap="rnd">
              <a:solidFill>
                <a:schemeClr val="accent5"/>
              </a:solidFill>
              <a:round/>
            </a:ln>
            <a:effectLst/>
          </c:spPr>
          <c:marker>
            <c:symbol val="none"/>
          </c:marker>
          <c:cat>
            <c:strRef>
              <c:f>Sheet1!$A$5:$A$16</c:f>
              <c:strCache>
                <c:ptCount val="11"/>
                <c:pt idx="0">
                  <c:v>2006</c:v>
                </c:pt>
                <c:pt idx="1">
                  <c:v>2007</c:v>
                </c:pt>
                <c:pt idx="2">
                  <c:v>2008</c:v>
                </c:pt>
                <c:pt idx="3">
                  <c:v>2009</c:v>
                </c:pt>
                <c:pt idx="4">
                  <c:v>2010</c:v>
                </c:pt>
                <c:pt idx="5">
                  <c:v>2011</c:v>
                </c:pt>
                <c:pt idx="6">
                  <c:v>2012</c:v>
                </c:pt>
                <c:pt idx="7">
                  <c:v>2013</c:v>
                </c:pt>
                <c:pt idx="8">
                  <c:v>2014</c:v>
                </c:pt>
                <c:pt idx="9">
                  <c:v>2015</c:v>
                </c:pt>
                <c:pt idx="10">
                  <c:v>2016</c:v>
                </c:pt>
              </c:strCache>
            </c:strRef>
          </c:cat>
          <c:val>
            <c:numRef>
              <c:f>Sheet1!$F$5:$F$16</c:f>
              <c:numCache>
                <c:formatCode>General</c:formatCode>
                <c:ptCount val="11"/>
                <c:pt idx="0">
                  <c:v>34.090000000000011</c:v>
                </c:pt>
                <c:pt idx="1">
                  <c:v>39.17</c:v>
                </c:pt>
                <c:pt idx="2">
                  <c:v>70.659999999999982</c:v>
                </c:pt>
                <c:pt idx="3">
                  <c:v>34.189999999999976</c:v>
                </c:pt>
                <c:pt idx="4">
                  <c:v>34.929999999999993</c:v>
                </c:pt>
                <c:pt idx="5">
                  <c:v>35.009999999999984</c:v>
                </c:pt>
                <c:pt idx="6">
                  <c:v>14.459999999999999</c:v>
                </c:pt>
                <c:pt idx="7">
                  <c:v>13.040000000000001</c:v>
                </c:pt>
                <c:pt idx="8">
                  <c:v>16.689999999999998</c:v>
                </c:pt>
                <c:pt idx="9">
                  <c:v>7.92</c:v>
                </c:pt>
                <c:pt idx="10">
                  <c:v>1.6400000000000001</c:v>
                </c:pt>
              </c:numCache>
            </c:numRef>
          </c:val>
          <c:smooth val="0"/>
          <c:extLst>
            <c:ext xmlns:c16="http://schemas.microsoft.com/office/drawing/2014/chart" uri="{C3380CC4-5D6E-409C-BE32-E72D297353CC}">
              <c16:uniqueId val="{00000004-BEFB-3447-A517-672FED54CCFE}"/>
            </c:ext>
          </c:extLst>
        </c:ser>
        <c:ser>
          <c:idx val="5"/>
          <c:order val="5"/>
          <c:tx>
            <c:strRef>
              <c:f>Sheet1!$G$3:$G$4</c:f>
              <c:strCache>
                <c:ptCount val="1"/>
                <c:pt idx="0">
                  <c:v>Role-Playing</c:v>
                </c:pt>
              </c:strCache>
            </c:strRef>
          </c:tx>
          <c:spPr>
            <a:ln w="28575" cap="rnd">
              <a:solidFill>
                <a:schemeClr val="accent6"/>
              </a:solidFill>
              <a:round/>
            </a:ln>
            <a:effectLst/>
          </c:spPr>
          <c:marker>
            <c:symbol val="none"/>
          </c:marker>
          <c:cat>
            <c:strRef>
              <c:f>Sheet1!$A$5:$A$16</c:f>
              <c:strCache>
                <c:ptCount val="11"/>
                <c:pt idx="0">
                  <c:v>2006</c:v>
                </c:pt>
                <c:pt idx="1">
                  <c:v>2007</c:v>
                </c:pt>
                <c:pt idx="2">
                  <c:v>2008</c:v>
                </c:pt>
                <c:pt idx="3">
                  <c:v>2009</c:v>
                </c:pt>
                <c:pt idx="4">
                  <c:v>2010</c:v>
                </c:pt>
                <c:pt idx="5">
                  <c:v>2011</c:v>
                </c:pt>
                <c:pt idx="6">
                  <c:v>2012</c:v>
                </c:pt>
                <c:pt idx="7">
                  <c:v>2013</c:v>
                </c:pt>
                <c:pt idx="8">
                  <c:v>2014</c:v>
                </c:pt>
                <c:pt idx="9">
                  <c:v>2015</c:v>
                </c:pt>
                <c:pt idx="10">
                  <c:v>2016</c:v>
                </c:pt>
              </c:strCache>
            </c:strRef>
          </c:cat>
          <c:val>
            <c:numRef>
              <c:f>Sheet1!$G$5:$G$16</c:f>
              <c:numCache>
                <c:formatCode>General</c:formatCode>
                <c:ptCount val="11"/>
                <c:pt idx="0">
                  <c:v>57.730000000000011</c:v>
                </c:pt>
                <c:pt idx="1">
                  <c:v>43.890000000000015</c:v>
                </c:pt>
                <c:pt idx="2">
                  <c:v>59.830000000000048</c:v>
                </c:pt>
                <c:pt idx="3">
                  <c:v>47.9</c:v>
                </c:pt>
                <c:pt idx="4">
                  <c:v>70.519999999999982</c:v>
                </c:pt>
                <c:pt idx="5">
                  <c:v>53.370000000000019</c:v>
                </c:pt>
                <c:pt idx="6">
                  <c:v>47.809999999999995</c:v>
                </c:pt>
                <c:pt idx="7">
                  <c:v>44.920000000000016</c:v>
                </c:pt>
                <c:pt idx="8">
                  <c:v>45.859999999999971</c:v>
                </c:pt>
                <c:pt idx="9">
                  <c:v>36.440000000000005</c:v>
                </c:pt>
                <c:pt idx="10">
                  <c:v>6.76</c:v>
                </c:pt>
              </c:numCache>
            </c:numRef>
          </c:val>
          <c:smooth val="0"/>
          <c:extLst>
            <c:ext xmlns:c16="http://schemas.microsoft.com/office/drawing/2014/chart" uri="{C3380CC4-5D6E-409C-BE32-E72D297353CC}">
              <c16:uniqueId val="{00000005-BEFB-3447-A517-672FED54CCFE}"/>
            </c:ext>
          </c:extLst>
        </c:ser>
        <c:ser>
          <c:idx val="6"/>
          <c:order val="6"/>
          <c:tx>
            <c:strRef>
              <c:f>Sheet1!$H$3:$H$4</c:f>
              <c:strCache>
                <c:ptCount val="1"/>
                <c:pt idx="0">
                  <c:v>Shooter</c:v>
                </c:pt>
              </c:strCache>
            </c:strRef>
          </c:tx>
          <c:spPr>
            <a:ln w="28575" cap="rnd">
              <a:solidFill>
                <a:schemeClr val="accent1">
                  <a:lumMod val="60000"/>
                </a:schemeClr>
              </a:solidFill>
              <a:round/>
            </a:ln>
            <a:effectLst/>
          </c:spPr>
          <c:marker>
            <c:symbol val="none"/>
          </c:marker>
          <c:cat>
            <c:strRef>
              <c:f>Sheet1!$A$5:$A$16</c:f>
              <c:strCache>
                <c:ptCount val="11"/>
                <c:pt idx="0">
                  <c:v>2006</c:v>
                </c:pt>
                <c:pt idx="1">
                  <c:v>2007</c:v>
                </c:pt>
                <c:pt idx="2">
                  <c:v>2008</c:v>
                </c:pt>
                <c:pt idx="3">
                  <c:v>2009</c:v>
                </c:pt>
                <c:pt idx="4">
                  <c:v>2010</c:v>
                </c:pt>
                <c:pt idx="5">
                  <c:v>2011</c:v>
                </c:pt>
                <c:pt idx="6">
                  <c:v>2012</c:v>
                </c:pt>
                <c:pt idx="7">
                  <c:v>2013</c:v>
                </c:pt>
                <c:pt idx="8">
                  <c:v>2014</c:v>
                </c:pt>
                <c:pt idx="9">
                  <c:v>2015</c:v>
                </c:pt>
                <c:pt idx="10">
                  <c:v>2016</c:v>
                </c:pt>
              </c:strCache>
            </c:strRef>
          </c:cat>
          <c:val>
            <c:numRef>
              <c:f>Sheet1!$H$5:$H$16</c:f>
              <c:numCache>
                <c:formatCode>General</c:formatCode>
                <c:ptCount val="11"/>
                <c:pt idx="0">
                  <c:v>38.370000000000012</c:v>
                </c:pt>
                <c:pt idx="1">
                  <c:v>71.039999999999964</c:v>
                </c:pt>
                <c:pt idx="2">
                  <c:v>59.510000000000012</c:v>
                </c:pt>
                <c:pt idx="3">
                  <c:v>69.890000000000029</c:v>
                </c:pt>
                <c:pt idx="4">
                  <c:v>77.40999999999994</c:v>
                </c:pt>
                <c:pt idx="5">
                  <c:v>99.359999999999971</c:v>
                </c:pt>
                <c:pt idx="6">
                  <c:v>72.86</c:v>
                </c:pt>
                <c:pt idx="7">
                  <c:v>62.799999999999976</c:v>
                </c:pt>
                <c:pt idx="8">
                  <c:v>65.999999999999986</c:v>
                </c:pt>
                <c:pt idx="9">
                  <c:v>66.149999999999991</c:v>
                </c:pt>
                <c:pt idx="10">
                  <c:v>18.219999999999995</c:v>
                </c:pt>
              </c:numCache>
            </c:numRef>
          </c:val>
          <c:smooth val="0"/>
          <c:extLst>
            <c:ext xmlns:c16="http://schemas.microsoft.com/office/drawing/2014/chart" uri="{C3380CC4-5D6E-409C-BE32-E72D297353CC}">
              <c16:uniqueId val="{00000006-BEFB-3447-A517-672FED54CCFE}"/>
            </c:ext>
          </c:extLst>
        </c:ser>
        <c:ser>
          <c:idx val="7"/>
          <c:order val="7"/>
          <c:tx>
            <c:strRef>
              <c:f>Sheet1!$I$3:$I$4</c:f>
              <c:strCache>
                <c:ptCount val="1"/>
                <c:pt idx="0">
                  <c:v>Sports</c:v>
                </c:pt>
              </c:strCache>
            </c:strRef>
          </c:tx>
          <c:spPr>
            <a:ln w="28575" cap="rnd">
              <a:solidFill>
                <a:schemeClr val="accent2">
                  <a:lumMod val="60000"/>
                </a:schemeClr>
              </a:solidFill>
              <a:round/>
            </a:ln>
            <a:effectLst/>
          </c:spPr>
          <c:marker>
            <c:symbol val="none"/>
          </c:marker>
          <c:cat>
            <c:strRef>
              <c:f>Sheet1!$A$5:$A$16</c:f>
              <c:strCache>
                <c:ptCount val="11"/>
                <c:pt idx="0">
                  <c:v>2006</c:v>
                </c:pt>
                <c:pt idx="1">
                  <c:v>2007</c:v>
                </c:pt>
                <c:pt idx="2">
                  <c:v>2008</c:v>
                </c:pt>
                <c:pt idx="3">
                  <c:v>2009</c:v>
                </c:pt>
                <c:pt idx="4">
                  <c:v>2010</c:v>
                </c:pt>
                <c:pt idx="5">
                  <c:v>2011</c:v>
                </c:pt>
                <c:pt idx="6">
                  <c:v>2012</c:v>
                </c:pt>
                <c:pt idx="7">
                  <c:v>2013</c:v>
                </c:pt>
                <c:pt idx="8">
                  <c:v>2014</c:v>
                </c:pt>
                <c:pt idx="9">
                  <c:v>2015</c:v>
                </c:pt>
                <c:pt idx="10">
                  <c:v>2016</c:v>
                </c:pt>
              </c:strCache>
            </c:strRef>
          </c:cat>
          <c:val>
            <c:numRef>
              <c:f>Sheet1!$I$5:$I$16</c:f>
              <c:numCache>
                <c:formatCode>General</c:formatCode>
                <c:ptCount val="11"/>
                <c:pt idx="0">
                  <c:v>136.16</c:v>
                </c:pt>
                <c:pt idx="1">
                  <c:v>98.200000000000031</c:v>
                </c:pt>
                <c:pt idx="2">
                  <c:v>95.339999999999975</c:v>
                </c:pt>
                <c:pt idx="3">
                  <c:v>138.51999999999992</c:v>
                </c:pt>
                <c:pt idx="4">
                  <c:v>92.529999999999987</c:v>
                </c:pt>
                <c:pt idx="5">
                  <c:v>56.990000000000009</c:v>
                </c:pt>
                <c:pt idx="6">
                  <c:v>30.930000000000003</c:v>
                </c:pt>
                <c:pt idx="7">
                  <c:v>41.550000000000004</c:v>
                </c:pt>
                <c:pt idx="8">
                  <c:v>46.66</c:v>
                </c:pt>
                <c:pt idx="9">
                  <c:v>41.540000000000006</c:v>
                </c:pt>
                <c:pt idx="10">
                  <c:v>14.599999999999996</c:v>
                </c:pt>
              </c:numCache>
            </c:numRef>
          </c:val>
          <c:smooth val="0"/>
          <c:extLst>
            <c:ext xmlns:c16="http://schemas.microsoft.com/office/drawing/2014/chart" uri="{C3380CC4-5D6E-409C-BE32-E72D297353CC}">
              <c16:uniqueId val="{00000007-BEFB-3447-A517-672FED54CCFE}"/>
            </c:ext>
          </c:extLst>
        </c:ser>
        <c:dLbls>
          <c:showLegendKey val="0"/>
          <c:showVal val="0"/>
          <c:showCatName val="0"/>
          <c:showSerName val="0"/>
          <c:showPercent val="0"/>
          <c:showBubbleSize val="0"/>
        </c:dLbls>
        <c:smooth val="0"/>
        <c:axId val="1450806815"/>
        <c:axId val="1450330159"/>
      </c:lineChart>
      <c:catAx>
        <c:axId val="145080681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dirty="0"/>
                  <a:t>Year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50330159"/>
        <c:crosses val="autoZero"/>
        <c:auto val="1"/>
        <c:lblAlgn val="ctr"/>
        <c:lblOffset val="100"/>
        <c:noMultiLvlLbl val="0"/>
      </c:catAx>
      <c:valAx>
        <c:axId val="145033015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dirty="0"/>
                  <a:t>Sales</a:t>
                </a:r>
                <a:r>
                  <a:rPr lang="en-US" sz="1200" b="1" baseline="0" dirty="0"/>
                  <a:t> in (million)</a:t>
                </a:r>
                <a:endParaRPr lang="en-US" sz="1200" b="1"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5080681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[Ex-1.8-MM-template.xlsx]Sheet3!PivotTable1</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b="1"/>
              <a:t>Game sales of popular geres</a:t>
            </a:r>
            <a:r>
              <a:rPr lang="en-US" sz="1600" b="1" baseline="0"/>
              <a:t> from 2006 - 2016</a:t>
            </a:r>
            <a:endParaRPr lang="en-US" sz="1600"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0"/>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1"/>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3"/>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4"/>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5"/>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6"/>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7"/>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8"/>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9"/>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6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Sheet3!$B$4</c:f>
              <c:strCache>
                <c:ptCount val="1"/>
                <c:pt idx="0">
                  <c:v>Sum of JP_Sales</c:v>
                </c:pt>
              </c:strCache>
            </c:strRef>
          </c:tx>
          <c:spPr>
            <a:ln w="28575" cap="rnd">
              <a:solidFill>
                <a:schemeClr val="accent1"/>
              </a:solidFill>
              <a:round/>
            </a:ln>
            <a:effectLst/>
          </c:spPr>
          <c:marker>
            <c:symbol val="none"/>
          </c:marker>
          <c:cat>
            <c:strRef>
              <c:f>Sheet3!$A$5:$A$17</c:f>
              <c:strCache>
                <c:ptCount val="12"/>
                <c:pt idx="0">
                  <c:v>Action</c:v>
                </c:pt>
                <c:pt idx="1">
                  <c:v>Adventure</c:v>
                </c:pt>
                <c:pt idx="2">
                  <c:v>Fighting</c:v>
                </c:pt>
                <c:pt idx="3">
                  <c:v>Misc</c:v>
                </c:pt>
                <c:pt idx="4">
                  <c:v>Platform</c:v>
                </c:pt>
                <c:pt idx="5">
                  <c:v>Puzzle</c:v>
                </c:pt>
                <c:pt idx="6">
                  <c:v>Racing</c:v>
                </c:pt>
                <c:pt idx="7">
                  <c:v>Role-Playing</c:v>
                </c:pt>
                <c:pt idx="8">
                  <c:v>Shooter</c:v>
                </c:pt>
                <c:pt idx="9">
                  <c:v>Simulation</c:v>
                </c:pt>
                <c:pt idx="10">
                  <c:v>Sports</c:v>
                </c:pt>
                <c:pt idx="11">
                  <c:v>Strategy</c:v>
                </c:pt>
              </c:strCache>
            </c:strRef>
          </c:cat>
          <c:val>
            <c:numRef>
              <c:f>Sheet3!$B$5:$B$17</c:f>
              <c:numCache>
                <c:formatCode>General</c:formatCode>
                <c:ptCount val="12"/>
                <c:pt idx="0">
                  <c:v>100.58000000000025</c:v>
                </c:pt>
                <c:pt idx="1">
                  <c:v>28.779999999999887</c:v>
                </c:pt>
                <c:pt idx="2">
                  <c:v>28.479999999999961</c:v>
                </c:pt>
                <c:pt idx="3">
                  <c:v>64.180000000000035</c:v>
                </c:pt>
                <c:pt idx="4">
                  <c:v>35.139999999999993</c:v>
                </c:pt>
                <c:pt idx="5">
                  <c:v>12.429999999999994</c:v>
                </c:pt>
                <c:pt idx="6">
                  <c:v>13.169999999999973</c:v>
                </c:pt>
                <c:pt idx="7">
                  <c:v>167.24000000000038</c:v>
                </c:pt>
                <c:pt idx="8">
                  <c:v>18.850000000000001</c:v>
                </c:pt>
                <c:pt idx="9">
                  <c:v>23.20999999999999</c:v>
                </c:pt>
                <c:pt idx="10">
                  <c:v>48.800000000000082</c:v>
                </c:pt>
                <c:pt idx="11">
                  <c:v>13.53</c:v>
                </c:pt>
              </c:numCache>
            </c:numRef>
          </c:val>
          <c:smooth val="0"/>
          <c:extLst>
            <c:ext xmlns:c16="http://schemas.microsoft.com/office/drawing/2014/chart" uri="{C3380CC4-5D6E-409C-BE32-E72D297353CC}">
              <c16:uniqueId val="{00000000-7968-DF42-BA9A-3FC39D4D3B79}"/>
            </c:ext>
          </c:extLst>
        </c:ser>
        <c:ser>
          <c:idx val="1"/>
          <c:order val="1"/>
          <c:tx>
            <c:strRef>
              <c:f>Sheet3!$C$4</c:f>
              <c:strCache>
                <c:ptCount val="1"/>
                <c:pt idx="0">
                  <c:v>Sum of EU_Sales</c:v>
                </c:pt>
              </c:strCache>
            </c:strRef>
          </c:tx>
          <c:spPr>
            <a:ln w="28575" cap="rnd">
              <a:solidFill>
                <a:schemeClr val="accent2"/>
              </a:solidFill>
              <a:round/>
            </a:ln>
            <a:effectLst/>
          </c:spPr>
          <c:marker>
            <c:symbol val="none"/>
          </c:marker>
          <c:cat>
            <c:strRef>
              <c:f>Sheet3!$A$5:$A$17</c:f>
              <c:strCache>
                <c:ptCount val="12"/>
                <c:pt idx="0">
                  <c:v>Action</c:v>
                </c:pt>
                <c:pt idx="1">
                  <c:v>Adventure</c:v>
                </c:pt>
                <c:pt idx="2">
                  <c:v>Fighting</c:v>
                </c:pt>
                <c:pt idx="3">
                  <c:v>Misc</c:v>
                </c:pt>
                <c:pt idx="4">
                  <c:v>Platform</c:v>
                </c:pt>
                <c:pt idx="5">
                  <c:v>Puzzle</c:v>
                </c:pt>
                <c:pt idx="6">
                  <c:v>Racing</c:v>
                </c:pt>
                <c:pt idx="7">
                  <c:v>Role-Playing</c:v>
                </c:pt>
                <c:pt idx="8">
                  <c:v>Shooter</c:v>
                </c:pt>
                <c:pt idx="9">
                  <c:v>Simulation</c:v>
                </c:pt>
                <c:pt idx="10">
                  <c:v>Sports</c:v>
                </c:pt>
                <c:pt idx="11">
                  <c:v>Strategy</c:v>
                </c:pt>
              </c:strCache>
            </c:strRef>
          </c:cat>
          <c:val>
            <c:numRef>
              <c:f>Sheet3!$C$5:$C$17</c:f>
              <c:numCache>
                <c:formatCode>General</c:formatCode>
                <c:ptCount val="12"/>
                <c:pt idx="0">
                  <c:v>356.10999999999461</c:v>
                </c:pt>
                <c:pt idx="1">
                  <c:v>38.440000000000033</c:v>
                </c:pt>
                <c:pt idx="2">
                  <c:v>43.620000000000026</c:v>
                </c:pt>
                <c:pt idx="3">
                  <c:v>149.99000000000012</c:v>
                </c:pt>
                <c:pt idx="4">
                  <c:v>82.790000000000148</c:v>
                </c:pt>
                <c:pt idx="5">
                  <c:v>28.490000000000045</c:v>
                </c:pt>
                <c:pt idx="6">
                  <c:v>115.02000000000019</c:v>
                </c:pt>
                <c:pt idx="7">
                  <c:v>109.9100000000001</c:v>
                </c:pt>
                <c:pt idx="8">
                  <c:v>234.79999999999998</c:v>
                </c:pt>
                <c:pt idx="9">
                  <c:v>69.42000000000013</c:v>
                </c:pt>
                <c:pt idx="10">
                  <c:v>251.51999999999998</c:v>
                </c:pt>
                <c:pt idx="11">
                  <c:v>24.460000000000004</c:v>
                </c:pt>
              </c:numCache>
            </c:numRef>
          </c:val>
          <c:smooth val="0"/>
          <c:extLst>
            <c:ext xmlns:c16="http://schemas.microsoft.com/office/drawing/2014/chart" uri="{C3380CC4-5D6E-409C-BE32-E72D297353CC}">
              <c16:uniqueId val="{00000001-7968-DF42-BA9A-3FC39D4D3B79}"/>
            </c:ext>
          </c:extLst>
        </c:ser>
        <c:ser>
          <c:idx val="2"/>
          <c:order val="2"/>
          <c:tx>
            <c:strRef>
              <c:f>Sheet3!$D$4</c:f>
              <c:strCache>
                <c:ptCount val="1"/>
                <c:pt idx="0">
                  <c:v>Sum of NA_Sales</c:v>
                </c:pt>
              </c:strCache>
            </c:strRef>
          </c:tx>
          <c:spPr>
            <a:ln w="28575" cap="rnd">
              <a:solidFill>
                <a:schemeClr val="accent3"/>
              </a:solidFill>
              <a:round/>
            </a:ln>
            <a:effectLst/>
          </c:spPr>
          <c:marker>
            <c:symbol val="none"/>
          </c:marker>
          <c:cat>
            <c:strRef>
              <c:f>Sheet3!$A$5:$A$17</c:f>
              <c:strCache>
                <c:ptCount val="12"/>
                <c:pt idx="0">
                  <c:v>Action</c:v>
                </c:pt>
                <c:pt idx="1">
                  <c:v>Adventure</c:v>
                </c:pt>
                <c:pt idx="2">
                  <c:v>Fighting</c:v>
                </c:pt>
                <c:pt idx="3">
                  <c:v>Misc</c:v>
                </c:pt>
                <c:pt idx="4">
                  <c:v>Platform</c:v>
                </c:pt>
                <c:pt idx="5">
                  <c:v>Puzzle</c:v>
                </c:pt>
                <c:pt idx="6">
                  <c:v>Racing</c:v>
                </c:pt>
                <c:pt idx="7">
                  <c:v>Role-Playing</c:v>
                </c:pt>
                <c:pt idx="8">
                  <c:v>Shooter</c:v>
                </c:pt>
                <c:pt idx="9">
                  <c:v>Simulation</c:v>
                </c:pt>
                <c:pt idx="10">
                  <c:v>Sports</c:v>
                </c:pt>
                <c:pt idx="11">
                  <c:v>Strategy</c:v>
                </c:pt>
              </c:strCache>
            </c:strRef>
          </c:cat>
          <c:val>
            <c:numRef>
              <c:f>Sheet3!$D$5:$D$17</c:f>
              <c:numCache>
                <c:formatCode>General</c:formatCode>
                <c:ptCount val="12"/>
                <c:pt idx="0">
                  <c:v>529.05000000000052</c:v>
                </c:pt>
                <c:pt idx="1">
                  <c:v>61.980000000000025</c:v>
                </c:pt>
                <c:pt idx="2">
                  <c:v>94.54</c:v>
                </c:pt>
                <c:pt idx="3">
                  <c:v>287.93999999999977</c:v>
                </c:pt>
                <c:pt idx="4">
                  <c:v>135.65000000000015</c:v>
                </c:pt>
                <c:pt idx="5">
                  <c:v>43.340000000000067</c:v>
                </c:pt>
                <c:pt idx="6">
                  <c:v>132.90000000000015</c:v>
                </c:pt>
                <c:pt idx="7">
                  <c:v>196.05999999999995</c:v>
                </c:pt>
                <c:pt idx="8">
                  <c:v>363.48999999999921</c:v>
                </c:pt>
                <c:pt idx="9">
                  <c:v>108.77999999999992</c:v>
                </c:pt>
                <c:pt idx="10">
                  <c:v>395.52999999999855</c:v>
                </c:pt>
                <c:pt idx="11">
                  <c:v>28.649999999999991</c:v>
                </c:pt>
              </c:numCache>
            </c:numRef>
          </c:val>
          <c:smooth val="0"/>
          <c:extLst>
            <c:ext xmlns:c16="http://schemas.microsoft.com/office/drawing/2014/chart" uri="{C3380CC4-5D6E-409C-BE32-E72D297353CC}">
              <c16:uniqueId val="{00000002-7968-DF42-BA9A-3FC39D4D3B79}"/>
            </c:ext>
          </c:extLst>
        </c:ser>
        <c:ser>
          <c:idx val="3"/>
          <c:order val="3"/>
          <c:tx>
            <c:strRef>
              <c:f>Sheet3!$E$4</c:f>
              <c:strCache>
                <c:ptCount val="1"/>
                <c:pt idx="0">
                  <c:v>Sum of Other_Sales</c:v>
                </c:pt>
              </c:strCache>
            </c:strRef>
          </c:tx>
          <c:spPr>
            <a:ln w="28575" cap="rnd">
              <a:solidFill>
                <a:schemeClr val="accent4"/>
              </a:solidFill>
              <a:round/>
            </a:ln>
            <a:effectLst/>
          </c:spPr>
          <c:marker>
            <c:symbol val="none"/>
          </c:marker>
          <c:cat>
            <c:strRef>
              <c:f>Sheet3!$A$5:$A$17</c:f>
              <c:strCache>
                <c:ptCount val="12"/>
                <c:pt idx="0">
                  <c:v>Action</c:v>
                </c:pt>
                <c:pt idx="1">
                  <c:v>Adventure</c:v>
                </c:pt>
                <c:pt idx="2">
                  <c:v>Fighting</c:v>
                </c:pt>
                <c:pt idx="3">
                  <c:v>Misc</c:v>
                </c:pt>
                <c:pt idx="4">
                  <c:v>Platform</c:v>
                </c:pt>
                <c:pt idx="5">
                  <c:v>Puzzle</c:v>
                </c:pt>
                <c:pt idx="6">
                  <c:v>Racing</c:v>
                </c:pt>
                <c:pt idx="7">
                  <c:v>Role-Playing</c:v>
                </c:pt>
                <c:pt idx="8">
                  <c:v>Shooter</c:v>
                </c:pt>
                <c:pt idx="9">
                  <c:v>Simulation</c:v>
                </c:pt>
                <c:pt idx="10">
                  <c:v>Sports</c:v>
                </c:pt>
                <c:pt idx="11">
                  <c:v>Strategy</c:v>
                </c:pt>
              </c:strCache>
            </c:strRef>
          </c:cat>
          <c:val>
            <c:numRef>
              <c:f>Sheet3!$E$5:$E$17</c:f>
              <c:numCache>
                <c:formatCode>General</c:formatCode>
                <c:ptCount val="12"/>
                <c:pt idx="0">
                  <c:v>141.12499999999949</c:v>
                </c:pt>
                <c:pt idx="1">
                  <c:v>14.593999999999909</c:v>
                </c:pt>
                <c:pt idx="2">
                  <c:v>23.670000000000091</c:v>
                </c:pt>
                <c:pt idx="3">
                  <c:v>63.310999999999794</c:v>
                </c:pt>
                <c:pt idx="4">
                  <c:v>29.469000000000094</c:v>
                </c:pt>
                <c:pt idx="5">
                  <c:v>8.4419999999999753</c:v>
                </c:pt>
                <c:pt idx="6">
                  <c:v>40.81199999999987</c:v>
                </c:pt>
                <c:pt idx="7">
                  <c:v>44.964999999999982</c:v>
                </c:pt>
                <c:pt idx="8">
                  <c:v>84.483000000000686</c:v>
                </c:pt>
                <c:pt idx="9">
                  <c:v>22.317000000000156</c:v>
                </c:pt>
                <c:pt idx="10">
                  <c:v>98.368000000001317</c:v>
                </c:pt>
                <c:pt idx="11">
                  <c:v>7.7739999999999752</c:v>
                </c:pt>
              </c:numCache>
            </c:numRef>
          </c:val>
          <c:smooth val="0"/>
          <c:extLst>
            <c:ext xmlns:c16="http://schemas.microsoft.com/office/drawing/2014/chart" uri="{C3380CC4-5D6E-409C-BE32-E72D297353CC}">
              <c16:uniqueId val="{00000003-7968-DF42-BA9A-3FC39D4D3B79}"/>
            </c:ext>
          </c:extLst>
        </c:ser>
        <c:dLbls>
          <c:showLegendKey val="0"/>
          <c:showVal val="0"/>
          <c:showCatName val="0"/>
          <c:showSerName val="0"/>
          <c:showPercent val="0"/>
          <c:showBubbleSize val="0"/>
        </c:dLbls>
        <c:smooth val="0"/>
        <c:axId val="525228512"/>
        <c:axId val="525230224"/>
      </c:lineChart>
      <c:catAx>
        <c:axId val="52522851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Genres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5230224"/>
        <c:crosses val="autoZero"/>
        <c:auto val="1"/>
        <c:lblAlgn val="ctr"/>
        <c:lblOffset val="100"/>
        <c:noMultiLvlLbl val="0"/>
      </c:catAx>
      <c:valAx>
        <c:axId val="5252302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sales in</a:t>
                </a:r>
                <a:r>
                  <a:rPr lang="en-US" sz="1200" b="1" baseline="0"/>
                  <a:t> (million)</a:t>
                </a:r>
                <a:endParaRPr lang="en-US" sz="1200" b="1"/>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522851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[Ex-1.8-MM-template.xlsx]PivotTable 1!PivotTable21</c:name>
    <c:fmtId val="3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Percentage of sales</a:t>
            </a:r>
            <a:r>
              <a:rPr lang="en-US" b="1" baseline="0" dirty="0"/>
              <a:t> across geographical regions</a:t>
            </a:r>
            <a:endParaRPr lang="en-US" b="1" dirty="0"/>
          </a:p>
        </c:rich>
      </c:tx>
      <c:layout>
        <c:manualLayout>
          <c:xMode val="edge"/>
          <c:yMode val="edge"/>
          <c:x val="0.31233995207120852"/>
          <c:y val="2.043049746997360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'PivotTable 1'!$B$3</c:f>
              <c:strCache>
                <c:ptCount val="1"/>
                <c:pt idx="0">
                  <c:v>Sum of proportion_north_america_sales</c:v>
                </c:pt>
              </c:strCache>
            </c:strRef>
          </c:tx>
          <c:spPr>
            <a:ln w="28575" cap="rnd">
              <a:solidFill>
                <a:schemeClr val="accent1"/>
              </a:solidFill>
              <a:round/>
            </a:ln>
            <a:effectLst/>
          </c:spPr>
          <c:marker>
            <c:symbol val="none"/>
          </c:marker>
          <c:dLbls>
            <c:dLbl>
              <c:idx val="0"/>
              <c:layout>
                <c:manualLayout>
                  <c:x val="0"/>
                  <c:y val="-4.086099493994720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009-764E-BEA8-1F791908ED85}"/>
                </c:ext>
              </c:extLst>
            </c:dLbl>
            <c:dLbl>
              <c:idx val="1"/>
              <c:layout>
                <c:manualLayout>
                  <c:x val="-2.4154589371980675E-3"/>
                  <c:y val="-4.66982799313682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009-764E-BEA8-1F791908ED85}"/>
                </c:ext>
              </c:extLst>
            </c:dLbl>
            <c:dLbl>
              <c:idx val="2"/>
              <c:layout>
                <c:manualLayout>
                  <c:x val="2.4154589371980675E-3"/>
                  <c:y val="-3.79423524442366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009-764E-BEA8-1F791908ED85}"/>
                </c:ext>
              </c:extLst>
            </c:dLbl>
            <c:dLbl>
              <c:idx val="3"/>
              <c:layout>
                <c:manualLayout>
                  <c:x val="-4.428290228876519E-17"/>
                  <c:y val="-3.79423524442366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009-764E-BEA8-1F791908ED85}"/>
                </c:ext>
              </c:extLst>
            </c:dLbl>
            <c:dLbl>
              <c:idx val="4"/>
              <c:layout>
                <c:manualLayout>
                  <c:x val="1.207729468599078E-3"/>
                  <c:y val="-3.79423524442367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009-764E-BEA8-1F791908ED85}"/>
                </c:ext>
              </c:extLst>
            </c:dLbl>
            <c:dLbl>
              <c:idx val="5"/>
              <c:layout>
                <c:manualLayout>
                  <c:x val="0"/>
                  <c:y val="-2.62677824613946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009-764E-BEA8-1F791908ED85}"/>
                </c:ext>
              </c:extLst>
            </c:dLbl>
            <c:dLbl>
              <c:idx val="6"/>
              <c:layout>
                <c:manualLayout>
                  <c:x val="-6.038647342995169E-3"/>
                  <c:y val="-2.62677824613946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009-764E-BEA8-1F791908ED85}"/>
                </c:ext>
              </c:extLst>
            </c:dLbl>
            <c:dLbl>
              <c:idx val="7"/>
              <c:layout>
                <c:manualLayout>
                  <c:x val="1.2077294685989453E-3"/>
                  <c:y val="-4.377963743565777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009-764E-BEA8-1F791908ED85}"/>
                </c:ext>
              </c:extLst>
            </c:dLbl>
            <c:dLbl>
              <c:idx val="8"/>
              <c:layout>
                <c:manualLayout>
                  <c:x val="-6.038647342995169E-3"/>
                  <c:y val="-6.71287774013418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009-764E-BEA8-1F791908ED85}"/>
                </c:ext>
              </c:extLst>
            </c:dLbl>
            <c:dLbl>
              <c:idx val="9"/>
              <c:layout>
                <c:manualLayout>
                  <c:x val="-3.6231884057971015E-3"/>
                  <c:y val="-4.66982799313682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009-764E-BEA8-1F791908ED8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'PivotTable 1'!$A$4:$A$15</c:f>
              <c:strCache>
                <c:ptCount val="11"/>
                <c:pt idx="0">
                  <c:v>2006</c:v>
                </c:pt>
                <c:pt idx="1">
                  <c:v>2007</c:v>
                </c:pt>
                <c:pt idx="2">
                  <c:v>2008</c:v>
                </c:pt>
                <c:pt idx="3">
                  <c:v>2009</c:v>
                </c:pt>
                <c:pt idx="4">
                  <c:v>2010</c:v>
                </c:pt>
                <c:pt idx="5">
                  <c:v>2011</c:v>
                </c:pt>
                <c:pt idx="6">
                  <c:v>2012</c:v>
                </c:pt>
                <c:pt idx="7">
                  <c:v>2013</c:v>
                </c:pt>
                <c:pt idx="8">
                  <c:v>2014</c:v>
                </c:pt>
                <c:pt idx="9">
                  <c:v>2015</c:v>
                </c:pt>
                <c:pt idx="10">
                  <c:v>2016</c:v>
                </c:pt>
              </c:strCache>
            </c:strRef>
          </c:cat>
          <c:val>
            <c:numRef>
              <c:f>'PivotTable 1'!$B$4:$B$15</c:f>
              <c:numCache>
                <c:formatCode>0%</c:formatCode>
                <c:ptCount val="11"/>
                <c:pt idx="0">
                  <c:v>0.50499001996008297</c:v>
                </c:pt>
                <c:pt idx="1">
                  <c:v>0.51020241326314175</c:v>
                </c:pt>
                <c:pt idx="2">
                  <c:v>0.51691474966170869</c:v>
                </c:pt>
                <c:pt idx="3">
                  <c:v>0.5074199973045459</c:v>
                </c:pt>
                <c:pt idx="4">
                  <c:v>0.50627350484241729</c:v>
                </c:pt>
                <c:pt idx="5">
                  <c:v>0.46717959650381236</c:v>
                </c:pt>
                <c:pt idx="6">
                  <c:v>0.42625295703361421</c:v>
                </c:pt>
                <c:pt idx="7">
                  <c:v>0.41988605534454815</c:v>
                </c:pt>
                <c:pt idx="8">
                  <c:v>0.39154428126390828</c:v>
                </c:pt>
                <c:pt idx="9">
                  <c:v>0.38882166086824832</c:v>
                </c:pt>
                <c:pt idx="10">
                  <c:v>0.31946989990131086</c:v>
                </c:pt>
              </c:numCache>
            </c:numRef>
          </c:val>
          <c:smooth val="0"/>
          <c:extLst>
            <c:ext xmlns:c16="http://schemas.microsoft.com/office/drawing/2014/chart" uri="{C3380CC4-5D6E-409C-BE32-E72D297353CC}">
              <c16:uniqueId val="{00000000-0D82-6C44-B3A4-208808847B92}"/>
            </c:ext>
          </c:extLst>
        </c:ser>
        <c:ser>
          <c:idx val="1"/>
          <c:order val="1"/>
          <c:tx>
            <c:strRef>
              <c:f>'PivotTable 1'!$C$3</c:f>
              <c:strCache>
                <c:ptCount val="1"/>
                <c:pt idx="0">
                  <c:v>Sum of proportion_Europe_sales</c:v>
                </c:pt>
              </c:strCache>
            </c:strRef>
          </c:tx>
          <c:spPr>
            <a:ln w="28575" cap="rnd">
              <a:solidFill>
                <a:schemeClr val="accent2"/>
              </a:solidFill>
              <a:round/>
            </a:ln>
            <a:effectLst/>
          </c:spPr>
          <c:marker>
            <c:symbol val="none"/>
          </c:marker>
          <c:dLbls>
            <c:dLbl>
              <c:idx val="0"/>
              <c:layout>
                <c:manualLayout>
                  <c:x val="3.6231884057971015E-3"/>
                  <c:y val="3.50237099485261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7009-764E-BEA8-1F791908ED85}"/>
                </c:ext>
              </c:extLst>
            </c:dLbl>
            <c:dLbl>
              <c:idx val="1"/>
              <c:layout>
                <c:manualLayout>
                  <c:x val="2.2141451144382595E-17"/>
                  <c:y val="4.37796374356576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009-764E-BEA8-1F791908ED85}"/>
                </c:ext>
              </c:extLst>
            </c:dLbl>
            <c:dLbl>
              <c:idx val="2"/>
              <c:layout>
                <c:manualLayout>
                  <c:x val="1.2077294685990338E-3"/>
                  <c:y val="4.086099493994720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009-764E-BEA8-1F791908ED85}"/>
                </c:ext>
              </c:extLst>
            </c:dLbl>
            <c:dLbl>
              <c:idx val="3"/>
              <c:layout>
                <c:manualLayout>
                  <c:x val="9.6618357487922701E-3"/>
                  <c:y val="5.54542074184997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7009-764E-BEA8-1F791908ED85}"/>
                </c:ext>
              </c:extLst>
            </c:dLbl>
            <c:dLbl>
              <c:idx val="4"/>
              <c:layout>
                <c:manualLayout>
                  <c:x val="7.2463768115941588E-3"/>
                  <c:y val="1.45932124785525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7009-764E-BEA8-1F791908ED85}"/>
                </c:ext>
              </c:extLst>
            </c:dLbl>
            <c:dLbl>
              <c:idx val="5"/>
              <c:layout>
                <c:manualLayout>
                  <c:x val="0"/>
                  <c:y val="2.91864249571051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009-764E-BEA8-1F791908ED85}"/>
                </c:ext>
              </c:extLst>
            </c:dLbl>
            <c:dLbl>
              <c:idx val="6"/>
              <c:layout>
                <c:manualLayout>
                  <c:x val="-6.038647342995169E-3"/>
                  <c:y val="5.54542074184997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7009-764E-BEA8-1F791908ED85}"/>
                </c:ext>
              </c:extLst>
            </c:dLbl>
            <c:dLbl>
              <c:idx val="7"/>
              <c:layout>
                <c:manualLayout>
                  <c:x val="2.4154589371980675E-3"/>
                  <c:y val="5.545420741849972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7009-764E-BEA8-1F791908ED85}"/>
                </c:ext>
              </c:extLst>
            </c:dLbl>
            <c:dLbl>
              <c:idx val="8"/>
              <c:layout>
                <c:manualLayout>
                  <c:x val="0"/>
                  <c:y val="1.45932124785525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009-764E-BEA8-1F791908ED85}"/>
                </c:ext>
              </c:extLst>
            </c:dLbl>
            <c:dLbl>
              <c:idx val="9"/>
              <c:layout>
                <c:manualLayout>
                  <c:x val="-4.8309178743962235E-3"/>
                  <c:y val="3.210506745281566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D82-6C44-B3A4-208808847B9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'PivotTable 1'!$A$4:$A$15</c:f>
              <c:strCache>
                <c:ptCount val="11"/>
                <c:pt idx="0">
                  <c:v>2006</c:v>
                </c:pt>
                <c:pt idx="1">
                  <c:v>2007</c:v>
                </c:pt>
                <c:pt idx="2">
                  <c:v>2008</c:v>
                </c:pt>
                <c:pt idx="3">
                  <c:v>2009</c:v>
                </c:pt>
                <c:pt idx="4">
                  <c:v>2010</c:v>
                </c:pt>
                <c:pt idx="5">
                  <c:v>2011</c:v>
                </c:pt>
                <c:pt idx="6">
                  <c:v>2012</c:v>
                </c:pt>
                <c:pt idx="7">
                  <c:v>2013</c:v>
                </c:pt>
                <c:pt idx="8">
                  <c:v>2014</c:v>
                </c:pt>
                <c:pt idx="9">
                  <c:v>2015</c:v>
                </c:pt>
                <c:pt idx="10">
                  <c:v>2016</c:v>
                </c:pt>
              </c:strCache>
            </c:strRef>
          </c:cat>
          <c:val>
            <c:numRef>
              <c:f>'PivotTable 1'!$C$4:$C$15</c:f>
              <c:numCache>
                <c:formatCode>0%</c:formatCode>
                <c:ptCount val="11"/>
                <c:pt idx="0">
                  <c:v>0.24804237678489408</c:v>
                </c:pt>
                <c:pt idx="1">
                  <c:v>0.26264674144076622</c:v>
                </c:pt>
                <c:pt idx="2">
                  <c:v>0.27163617108901777</c:v>
                </c:pt>
                <c:pt idx="3">
                  <c:v>0.2871112175983489</c:v>
                </c:pt>
                <c:pt idx="4">
                  <c:v>0.29432222850867173</c:v>
                </c:pt>
                <c:pt idx="5">
                  <c:v>0.32450241283745984</c:v>
                </c:pt>
                <c:pt idx="6">
                  <c:v>0.32673158386972551</c:v>
                </c:pt>
                <c:pt idx="7">
                  <c:v>0.34167118827997911</c:v>
                </c:pt>
                <c:pt idx="8">
                  <c:v>0.37279335410176573</c:v>
                </c:pt>
                <c:pt idx="9">
                  <c:v>0.36949780668582521</c:v>
                </c:pt>
                <c:pt idx="10">
                  <c:v>0.37727336810940315</c:v>
                </c:pt>
              </c:numCache>
            </c:numRef>
          </c:val>
          <c:smooth val="0"/>
          <c:extLst>
            <c:ext xmlns:c16="http://schemas.microsoft.com/office/drawing/2014/chart" uri="{C3380CC4-5D6E-409C-BE32-E72D297353CC}">
              <c16:uniqueId val="{00000001-0D82-6C44-B3A4-208808847B92}"/>
            </c:ext>
          </c:extLst>
        </c:ser>
        <c:ser>
          <c:idx val="2"/>
          <c:order val="2"/>
          <c:tx>
            <c:strRef>
              <c:f>'PivotTable 1'!$D$3</c:f>
              <c:strCache>
                <c:ptCount val="1"/>
                <c:pt idx="0">
                  <c:v>Sum of proportion_Japan_sales</c:v>
                </c:pt>
              </c:strCache>
            </c:strRef>
          </c:tx>
          <c:spPr>
            <a:ln w="28575" cap="rnd">
              <a:solidFill>
                <a:schemeClr val="accent3"/>
              </a:solidFill>
              <a:round/>
            </a:ln>
            <a:effectLst/>
          </c:spPr>
          <c:marker>
            <c:symbol val="none"/>
          </c:marker>
          <c:dLbls>
            <c:dLbl>
              <c:idx val="1"/>
              <c:layout>
                <c:manualLayout>
                  <c:x val="2.4154589371980675E-3"/>
                  <c:y val="4.08609949399473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7009-764E-BEA8-1F791908ED85}"/>
                </c:ext>
              </c:extLst>
            </c:dLbl>
            <c:dLbl>
              <c:idx val="2"/>
              <c:layout>
                <c:manualLayout>
                  <c:x val="1.2077294685990338E-3"/>
                  <c:y val="4.669827993136813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7009-764E-BEA8-1F791908ED85}"/>
                </c:ext>
              </c:extLst>
            </c:dLbl>
            <c:dLbl>
              <c:idx val="3"/>
              <c:layout>
                <c:manualLayout>
                  <c:x val="-4.428290228876519E-17"/>
                  <c:y val="5.253556492278926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7009-764E-BEA8-1F791908ED85}"/>
                </c:ext>
              </c:extLst>
            </c:dLbl>
            <c:dLbl>
              <c:idx val="4"/>
              <c:layout>
                <c:manualLayout>
                  <c:x val="1.207729468599078E-3"/>
                  <c:y val="5.253556492278926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7009-764E-BEA8-1F791908ED85}"/>
                </c:ext>
              </c:extLst>
            </c:dLbl>
            <c:dLbl>
              <c:idx val="5"/>
              <c:layout>
                <c:manualLayout>
                  <c:x val="0"/>
                  <c:y val="3.210506745281577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7009-764E-BEA8-1F791908ED85}"/>
                </c:ext>
              </c:extLst>
            </c:dLbl>
            <c:dLbl>
              <c:idx val="6"/>
              <c:layout>
                <c:manualLayout>
                  <c:x val="-1.2077294685991224E-3"/>
                  <c:y val="-4.37796374356577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7009-764E-BEA8-1F791908ED85}"/>
                </c:ext>
              </c:extLst>
            </c:dLbl>
            <c:dLbl>
              <c:idx val="7"/>
              <c:layout>
                <c:manualLayout>
                  <c:x val="1.2077294685989453E-3"/>
                  <c:y val="-3.79423524442366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7009-764E-BEA8-1F791908ED85}"/>
                </c:ext>
              </c:extLst>
            </c:dLbl>
            <c:dLbl>
              <c:idx val="8"/>
              <c:layout>
                <c:manualLayout>
                  <c:x val="4.830917874396135E-3"/>
                  <c:y val="6.42101349056312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7009-764E-BEA8-1F791908ED85}"/>
                </c:ext>
              </c:extLst>
            </c:dLbl>
            <c:dLbl>
              <c:idx val="9"/>
              <c:layout>
                <c:manualLayout>
                  <c:x val="-1.6908212560386472E-2"/>
                  <c:y val="-9.04779173670259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7009-764E-BEA8-1F791908ED8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'PivotTable 1'!$A$4:$A$15</c:f>
              <c:strCache>
                <c:ptCount val="11"/>
                <c:pt idx="0">
                  <c:v>2006</c:v>
                </c:pt>
                <c:pt idx="1">
                  <c:v>2007</c:v>
                </c:pt>
                <c:pt idx="2">
                  <c:v>2008</c:v>
                </c:pt>
                <c:pt idx="3">
                  <c:v>2009</c:v>
                </c:pt>
                <c:pt idx="4">
                  <c:v>2010</c:v>
                </c:pt>
                <c:pt idx="5">
                  <c:v>2011</c:v>
                </c:pt>
                <c:pt idx="6">
                  <c:v>2012</c:v>
                </c:pt>
                <c:pt idx="7">
                  <c:v>2013</c:v>
                </c:pt>
                <c:pt idx="8">
                  <c:v>2014</c:v>
                </c:pt>
                <c:pt idx="9">
                  <c:v>2015</c:v>
                </c:pt>
                <c:pt idx="10">
                  <c:v>2016</c:v>
                </c:pt>
              </c:strCache>
            </c:strRef>
          </c:cat>
          <c:val>
            <c:numRef>
              <c:f>'PivotTable 1'!$D$4:$D$15</c:f>
              <c:numCache>
                <c:formatCode>0%</c:formatCode>
                <c:ptCount val="11"/>
                <c:pt idx="0">
                  <c:v>0.14150545063718797</c:v>
                </c:pt>
                <c:pt idx="1">
                  <c:v>9.8623328210327668E-2</c:v>
                </c:pt>
                <c:pt idx="2">
                  <c:v>8.878037300700195E-2</c:v>
                </c:pt>
                <c:pt idx="3">
                  <c:v>9.2723760463619548E-2</c:v>
                </c:pt>
                <c:pt idx="4">
                  <c:v>9.9044829766699524E-2</c:v>
                </c:pt>
                <c:pt idx="5">
                  <c:v>0.10279268978081013</c:v>
                </c:pt>
                <c:pt idx="6">
                  <c:v>0.14232271551961281</c:v>
                </c:pt>
                <c:pt idx="7">
                  <c:v>0.12919153553988094</c:v>
                </c:pt>
                <c:pt idx="8">
                  <c:v>0.11707461800919775</c:v>
                </c:pt>
                <c:pt idx="9">
                  <c:v>0.12751474814702743</c:v>
                </c:pt>
                <c:pt idx="10">
                  <c:v>0.19314817425630859</c:v>
                </c:pt>
              </c:numCache>
            </c:numRef>
          </c:val>
          <c:smooth val="0"/>
          <c:extLst>
            <c:ext xmlns:c16="http://schemas.microsoft.com/office/drawing/2014/chart" uri="{C3380CC4-5D6E-409C-BE32-E72D297353CC}">
              <c16:uniqueId val="{00000002-0D82-6C44-B3A4-208808847B92}"/>
            </c:ext>
          </c:extLst>
        </c:ser>
        <c:ser>
          <c:idx val="3"/>
          <c:order val="3"/>
          <c:tx>
            <c:strRef>
              <c:f>'PivotTable 1'!$E$3</c:f>
              <c:strCache>
                <c:ptCount val="1"/>
                <c:pt idx="0">
                  <c:v>Sum of proportion_other_sales</c:v>
                </c:pt>
              </c:strCache>
            </c:strRef>
          </c:tx>
          <c:spPr>
            <a:ln w="28575" cap="rnd">
              <a:solidFill>
                <a:schemeClr val="accent4"/>
              </a:solidFill>
              <a:round/>
            </a:ln>
            <a:effectLst/>
          </c:spPr>
          <c:marker>
            <c:symbol val="none"/>
          </c:marker>
          <c:cat>
            <c:strRef>
              <c:f>'PivotTable 1'!$A$4:$A$15</c:f>
              <c:strCache>
                <c:ptCount val="11"/>
                <c:pt idx="0">
                  <c:v>2006</c:v>
                </c:pt>
                <c:pt idx="1">
                  <c:v>2007</c:v>
                </c:pt>
                <c:pt idx="2">
                  <c:v>2008</c:v>
                </c:pt>
                <c:pt idx="3">
                  <c:v>2009</c:v>
                </c:pt>
                <c:pt idx="4">
                  <c:v>2010</c:v>
                </c:pt>
                <c:pt idx="5">
                  <c:v>2011</c:v>
                </c:pt>
                <c:pt idx="6">
                  <c:v>2012</c:v>
                </c:pt>
                <c:pt idx="7">
                  <c:v>2013</c:v>
                </c:pt>
                <c:pt idx="8">
                  <c:v>2014</c:v>
                </c:pt>
                <c:pt idx="9">
                  <c:v>2015</c:v>
                </c:pt>
                <c:pt idx="10">
                  <c:v>2016</c:v>
                </c:pt>
              </c:strCache>
            </c:strRef>
          </c:cat>
          <c:val>
            <c:numRef>
              <c:f>'PivotTable 1'!$E$4:$E$15</c:f>
              <c:numCache>
                <c:formatCode>General</c:formatCode>
                <c:ptCount val="11"/>
                <c:pt idx="0">
                  <c:v>0.10652157224013531</c:v>
                </c:pt>
                <c:pt idx="1">
                  <c:v>0.13001373401785773</c:v>
                </c:pt>
                <c:pt idx="2">
                  <c:v>0.12467494263693958</c:v>
                </c:pt>
                <c:pt idx="3">
                  <c:v>0.11423651147816231</c:v>
                </c:pt>
                <c:pt idx="4">
                  <c:v>0.10141112257463344</c:v>
                </c:pt>
                <c:pt idx="5">
                  <c:v>0.10944591949456399</c:v>
                </c:pt>
                <c:pt idx="6">
                  <c:v>0.11033723936843261</c:v>
                </c:pt>
                <c:pt idx="7">
                  <c:v>0.11483450895279457</c:v>
                </c:pt>
                <c:pt idx="8">
                  <c:v>0.12524847945408696</c:v>
                </c:pt>
                <c:pt idx="9">
                  <c:v>0.12323022235667812</c:v>
                </c:pt>
                <c:pt idx="10">
                  <c:v>0.12680107147892239</c:v>
                </c:pt>
              </c:numCache>
            </c:numRef>
          </c:val>
          <c:smooth val="0"/>
          <c:extLst>
            <c:ext xmlns:c16="http://schemas.microsoft.com/office/drawing/2014/chart" uri="{C3380CC4-5D6E-409C-BE32-E72D297353CC}">
              <c16:uniqueId val="{00000003-0D82-6C44-B3A4-208808847B92}"/>
            </c:ext>
          </c:extLst>
        </c:ser>
        <c:dLbls>
          <c:showLegendKey val="0"/>
          <c:showVal val="0"/>
          <c:showCatName val="0"/>
          <c:showSerName val="0"/>
          <c:showPercent val="0"/>
          <c:showBubbleSize val="0"/>
        </c:dLbls>
        <c:smooth val="0"/>
        <c:axId val="1939290496"/>
        <c:axId val="1878358368"/>
      </c:lineChart>
      <c:catAx>
        <c:axId val="193929049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t>Year</a:t>
                </a:r>
              </a:p>
            </c:rich>
          </c:tx>
          <c:layout>
            <c:manualLayout>
              <c:xMode val="edge"/>
              <c:yMode val="edge"/>
              <c:x val="0.45626735516756056"/>
              <c:y val="0.9322727859798526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8358368"/>
        <c:crosses val="autoZero"/>
        <c:auto val="1"/>
        <c:lblAlgn val="ctr"/>
        <c:lblOffset val="100"/>
        <c:noMultiLvlLbl val="0"/>
      </c:catAx>
      <c:valAx>
        <c:axId val="18783583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t>Proportion</a:t>
                </a:r>
                <a:r>
                  <a:rPr lang="en-US" b="1" baseline="0"/>
                  <a:t> of Sales</a:t>
                </a:r>
                <a:endParaRPr lang="en-US" b="1"/>
              </a:p>
            </c:rich>
          </c:tx>
          <c:layout>
            <c:manualLayout>
              <c:xMode val="edge"/>
              <c:yMode val="edge"/>
              <c:x val="1.3285024154589372E-2"/>
              <c:y val="0.35105684734212789"/>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9290496"/>
        <c:crosses val="autoZero"/>
        <c:crossBetween val="between"/>
      </c:valAx>
      <c:spPr>
        <a:noFill/>
        <a:ln>
          <a:noFill/>
        </a:ln>
        <a:effectLst/>
      </c:spPr>
    </c:plotArea>
    <c:legend>
      <c:legendPos val="r"/>
      <c:layout>
        <c:manualLayout>
          <c:xMode val="edge"/>
          <c:yMode val="edge"/>
          <c:x val="0.77553083038533221"/>
          <c:y val="0.36952128287896735"/>
          <c:w val="0.22446916961466773"/>
          <c:h val="0.197009747346678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[Ex-1.8-MM-template.xlsx]Sheet5!PivotTable6</c:name>
    <c:fmtId val="3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Total</a:t>
            </a:r>
            <a:r>
              <a:rPr lang="en-US" b="1" baseline="0" dirty="0"/>
              <a:t> s</a:t>
            </a:r>
            <a:r>
              <a:rPr lang="en-US" b="1" dirty="0"/>
              <a:t>ales</a:t>
            </a:r>
            <a:r>
              <a:rPr lang="en-US" b="1" baseline="0" dirty="0"/>
              <a:t> figures of all regions</a:t>
            </a:r>
            <a:endParaRPr lang="en-US" b="1"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percentStacked"/>
        <c:varyColors val="0"/>
        <c:ser>
          <c:idx val="0"/>
          <c:order val="0"/>
          <c:tx>
            <c:strRef>
              <c:f>Sheet5!$B$3</c:f>
              <c:strCache>
                <c:ptCount val="1"/>
                <c:pt idx="0">
                  <c:v>Sum of EU_Sales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Sheet5!$A$4:$A$7</c:f>
              <c:strCache>
                <c:ptCount val="3"/>
                <c:pt idx="0">
                  <c:v>2014</c:v>
                </c:pt>
                <c:pt idx="1">
                  <c:v>2015</c:v>
                </c:pt>
                <c:pt idx="2">
                  <c:v>2016</c:v>
                </c:pt>
              </c:strCache>
            </c:strRef>
          </c:cat>
          <c:val>
            <c:numRef>
              <c:f>Sheet5!$B$4:$B$7</c:f>
              <c:numCache>
                <c:formatCode>General</c:formatCode>
                <c:ptCount val="3"/>
                <c:pt idx="0">
                  <c:v>125.65000000000005</c:v>
                </c:pt>
                <c:pt idx="1">
                  <c:v>97.709999999999923</c:v>
                </c:pt>
                <c:pt idx="2">
                  <c:v>26.759999999999973</c:v>
                </c:pt>
              </c:numCache>
            </c:numRef>
          </c:val>
          <c:extLst>
            <c:ext xmlns:c16="http://schemas.microsoft.com/office/drawing/2014/chart" uri="{C3380CC4-5D6E-409C-BE32-E72D297353CC}">
              <c16:uniqueId val="{00000000-78CF-0B47-8731-19D257E7DE71}"/>
            </c:ext>
          </c:extLst>
        </c:ser>
        <c:ser>
          <c:idx val="1"/>
          <c:order val="1"/>
          <c:tx>
            <c:strRef>
              <c:f>Sheet5!$C$3</c:f>
              <c:strCache>
                <c:ptCount val="1"/>
                <c:pt idx="0">
                  <c:v>Sum of NA_Sales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Sheet5!$A$4:$A$7</c:f>
              <c:strCache>
                <c:ptCount val="3"/>
                <c:pt idx="0">
                  <c:v>2014</c:v>
                </c:pt>
                <c:pt idx="1">
                  <c:v>2015</c:v>
                </c:pt>
                <c:pt idx="2">
                  <c:v>2016</c:v>
                </c:pt>
              </c:strCache>
            </c:strRef>
          </c:cat>
          <c:val>
            <c:numRef>
              <c:f>Sheet5!$C$4:$C$7</c:f>
              <c:numCache>
                <c:formatCode>General</c:formatCode>
                <c:ptCount val="3"/>
                <c:pt idx="0">
                  <c:v>131.96999999999994</c:v>
                </c:pt>
                <c:pt idx="1">
                  <c:v>102.82</c:v>
                </c:pt>
                <c:pt idx="2">
                  <c:v>22.659999999999993</c:v>
                </c:pt>
              </c:numCache>
            </c:numRef>
          </c:val>
          <c:extLst>
            <c:ext xmlns:c16="http://schemas.microsoft.com/office/drawing/2014/chart" uri="{C3380CC4-5D6E-409C-BE32-E72D297353CC}">
              <c16:uniqueId val="{00000001-78CF-0B47-8731-19D257E7DE71}"/>
            </c:ext>
          </c:extLst>
        </c:ser>
        <c:ser>
          <c:idx val="2"/>
          <c:order val="2"/>
          <c:tx>
            <c:strRef>
              <c:f>Sheet5!$D$3</c:f>
              <c:strCache>
                <c:ptCount val="1"/>
                <c:pt idx="0">
                  <c:v>Sum of JP_Sales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Sheet5!$A$4:$A$7</c:f>
              <c:strCache>
                <c:ptCount val="3"/>
                <c:pt idx="0">
                  <c:v>2014</c:v>
                </c:pt>
                <c:pt idx="1">
                  <c:v>2015</c:v>
                </c:pt>
                <c:pt idx="2">
                  <c:v>2016</c:v>
                </c:pt>
              </c:strCache>
            </c:strRef>
          </c:cat>
          <c:val>
            <c:numRef>
              <c:f>Sheet5!$D$4:$D$7</c:f>
              <c:numCache>
                <c:formatCode>General</c:formatCode>
                <c:ptCount val="3"/>
                <c:pt idx="0">
                  <c:v>39.459999999999965</c:v>
                </c:pt>
                <c:pt idx="1">
                  <c:v>33.720000000000006</c:v>
                </c:pt>
                <c:pt idx="2">
                  <c:v>13.699999999999994</c:v>
                </c:pt>
              </c:numCache>
            </c:numRef>
          </c:val>
          <c:extLst>
            <c:ext xmlns:c16="http://schemas.microsoft.com/office/drawing/2014/chart" uri="{C3380CC4-5D6E-409C-BE32-E72D297353CC}">
              <c16:uniqueId val="{00000002-78CF-0B47-8731-19D257E7DE71}"/>
            </c:ext>
          </c:extLst>
        </c:ser>
        <c:ser>
          <c:idx val="3"/>
          <c:order val="3"/>
          <c:tx>
            <c:strRef>
              <c:f>Sheet5!$E$3</c:f>
              <c:strCache>
                <c:ptCount val="1"/>
                <c:pt idx="0">
                  <c:v>Sum of Other_Sales</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Sheet5!$A$4:$A$7</c:f>
              <c:strCache>
                <c:ptCount val="3"/>
                <c:pt idx="0">
                  <c:v>2014</c:v>
                </c:pt>
                <c:pt idx="1">
                  <c:v>2015</c:v>
                </c:pt>
                <c:pt idx="2">
                  <c:v>2016</c:v>
                </c:pt>
              </c:strCache>
            </c:strRef>
          </c:cat>
          <c:val>
            <c:numRef>
              <c:f>Sheet5!$E$4:$E$7</c:f>
              <c:numCache>
                <c:formatCode>General</c:formatCode>
                <c:ptCount val="3"/>
                <c:pt idx="0">
                  <c:v>42.215000000000096</c:v>
                </c:pt>
                <c:pt idx="1">
                  <c:v>32.587000000000053</c:v>
                </c:pt>
                <c:pt idx="2">
                  <c:v>8.9939999999999891</c:v>
                </c:pt>
              </c:numCache>
            </c:numRef>
          </c:val>
          <c:extLst>
            <c:ext xmlns:c16="http://schemas.microsoft.com/office/drawing/2014/chart" uri="{C3380CC4-5D6E-409C-BE32-E72D297353CC}">
              <c16:uniqueId val="{00000003-78CF-0B47-8731-19D257E7DE71}"/>
            </c:ext>
          </c:extLst>
        </c:ser>
        <c:dLbls>
          <c:showLegendKey val="0"/>
          <c:showVal val="0"/>
          <c:showCatName val="0"/>
          <c:showSerName val="0"/>
          <c:showPercent val="0"/>
          <c:showBubbleSize val="0"/>
        </c:dLbls>
        <c:gapWidth val="150"/>
        <c:overlap val="100"/>
        <c:axId val="1474416896"/>
        <c:axId val="1868435855"/>
      </c:barChart>
      <c:catAx>
        <c:axId val="1474416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68435855"/>
        <c:crosses val="autoZero"/>
        <c:auto val="1"/>
        <c:lblAlgn val="ctr"/>
        <c:lblOffset val="100"/>
        <c:noMultiLvlLbl val="0"/>
      </c:catAx>
      <c:valAx>
        <c:axId val="186843585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t>Sales in (millions)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441689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[Ex-1.8-MM-template.xlsx]Sheet6!PivotTable7</c:name>
    <c:fmtId val="2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Sales of popular</a:t>
            </a:r>
            <a:r>
              <a:rPr lang="en-US" b="1" baseline="0"/>
              <a:t> genres in 2016</a:t>
            </a:r>
            <a:endParaRPr lang="en-US"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Sheet6!$B$3:$B$5</c:f>
              <c:strCache>
                <c:ptCount val="1"/>
                <c:pt idx="0">
                  <c:v>2016 - Sum of EU_Sales</c:v>
                </c:pt>
              </c:strCache>
            </c:strRef>
          </c:tx>
          <c:spPr>
            <a:solidFill>
              <a:schemeClr val="accent1"/>
            </a:solidFill>
            <a:ln>
              <a:noFill/>
            </a:ln>
            <a:effectLst/>
          </c:spPr>
          <c:invertIfNegative val="0"/>
          <c:cat>
            <c:strRef>
              <c:f>Sheet6!$A$6:$A$14</c:f>
              <c:strCache>
                <c:ptCount val="8"/>
                <c:pt idx="0">
                  <c:v>Action</c:v>
                </c:pt>
                <c:pt idx="1">
                  <c:v>Fighting</c:v>
                </c:pt>
                <c:pt idx="2">
                  <c:v>Platform</c:v>
                </c:pt>
                <c:pt idx="3">
                  <c:v>Racing</c:v>
                </c:pt>
                <c:pt idx="4">
                  <c:v>Role-Playing</c:v>
                </c:pt>
                <c:pt idx="5">
                  <c:v>Shooter</c:v>
                </c:pt>
                <c:pt idx="6">
                  <c:v>Sports</c:v>
                </c:pt>
                <c:pt idx="7">
                  <c:v>Strategy</c:v>
                </c:pt>
              </c:strCache>
            </c:strRef>
          </c:cat>
          <c:val>
            <c:numRef>
              <c:f>Sheet6!$B$6:$B$14</c:f>
              <c:numCache>
                <c:formatCode>General</c:formatCode>
                <c:ptCount val="8"/>
                <c:pt idx="0">
                  <c:v>6.3600000000000012</c:v>
                </c:pt>
                <c:pt idx="1">
                  <c:v>1.1499999999999999</c:v>
                </c:pt>
                <c:pt idx="2">
                  <c:v>0.87</c:v>
                </c:pt>
                <c:pt idx="3">
                  <c:v>1.1400000000000001</c:v>
                </c:pt>
                <c:pt idx="4">
                  <c:v>1.29</c:v>
                </c:pt>
                <c:pt idx="5">
                  <c:v>7.6999999999999993</c:v>
                </c:pt>
                <c:pt idx="6">
                  <c:v>7.3599999999999985</c:v>
                </c:pt>
                <c:pt idx="7">
                  <c:v>0.32000000000000006</c:v>
                </c:pt>
              </c:numCache>
            </c:numRef>
          </c:val>
          <c:extLst>
            <c:ext xmlns:c16="http://schemas.microsoft.com/office/drawing/2014/chart" uri="{C3380CC4-5D6E-409C-BE32-E72D297353CC}">
              <c16:uniqueId val="{00000000-B91D-A54B-BD8C-FD8338522A39}"/>
            </c:ext>
          </c:extLst>
        </c:ser>
        <c:ser>
          <c:idx val="1"/>
          <c:order val="1"/>
          <c:tx>
            <c:strRef>
              <c:f>Sheet6!$C$3:$C$5</c:f>
              <c:strCache>
                <c:ptCount val="1"/>
                <c:pt idx="0">
                  <c:v>2016 - Sum of NA_Sales</c:v>
                </c:pt>
              </c:strCache>
            </c:strRef>
          </c:tx>
          <c:spPr>
            <a:solidFill>
              <a:schemeClr val="accent2"/>
            </a:solidFill>
            <a:ln>
              <a:noFill/>
            </a:ln>
            <a:effectLst/>
          </c:spPr>
          <c:invertIfNegative val="0"/>
          <c:cat>
            <c:strRef>
              <c:f>Sheet6!$A$6:$A$14</c:f>
              <c:strCache>
                <c:ptCount val="8"/>
                <c:pt idx="0">
                  <c:v>Action</c:v>
                </c:pt>
                <c:pt idx="1">
                  <c:v>Fighting</c:v>
                </c:pt>
                <c:pt idx="2">
                  <c:v>Platform</c:v>
                </c:pt>
                <c:pt idx="3">
                  <c:v>Racing</c:v>
                </c:pt>
                <c:pt idx="4">
                  <c:v>Role-Playing</c:v>
                </c:pt>
                <c:pt idx="5">
                  <c:v>Shooter</c:v>
                </c:pt>
                <c:pt idx="6">
                  <c:v>Sports</c:v>
                </c:pt>
                <c:pt idx="7">
                  <c:v>Strategy</c:v>
                </c:pt>
              </c:strCache>
            </c:strRef>
          </c:cat>
          <c:val>
            <c:numRef>
              <c:f>Sheet6!$C$6:$C$14</c:f>
              <c:numCache>
                <c:formatCode>General</c:formatCode>
                <c:ptCount val="8"/>
                <c:pt idx="0">
                  <c:v>5.870000000000001</c:v>
                </c:pt>
                <c:pt idx="1">
                  <c:v>1.6</c:v>
                </c:pt>
                <c:pt idx="2">
                  <c:v>0.79</c:v>
                </c:pt>
                <c:pt idx="3">
                  <c:v>0.33</c:v>
                </c:pt>
                <c:pt idx="4">
                  <c:v>1.3900000000000001</c:v>
                </c:pt>
                <c:pt idx="5">
                  <c:v>7.44</c:v>
                </c:pt>
                <c:pt idx="6">
                  <c:v>4.57</c:v>
                </c:pt>
                <c:pt idx="7">
                  <c:v>0.11</c:v>
                </c:pt>
              </c:numCache>
            </c:numRef>
          </c:val>
          <c:extLst>
            <c:ext xmlns:c16="http://schemas.microsoft.com/office/drawing/2014/chart" uri="{C3380CC4-5D6E-409C-BE32-E72D297353CC}">
              <c16:uniqueId val="{00000001-B91D-A54B-BD8C-FD8338522A39}"/>
            </c:ext>
          </c:extLst>
        </c:ser>
        <c:ser>
          <c:idx val="2"/>
          <c:order val="2"/>
          <c:tx>
            <c:strRef>
              <c:f>Sheet6!$D$3:$D$5</c:f>
              <c:strCache>
                <c:ptCount val="1"/>
                <c:pt idx="0">
                  <c:v>2016 - Sum of JP_Sales</c:v>
                </c:pt>
              </c:strCache>
            </c:strRef>
          </c:tx>
          <c:spPr>
            <a:solidFill>
              <a:schemeClr val="accent3"/>
            </a:solidFill>
            <a:ln>
              <a:noFill/>
            </a:ln>
            <a:effectLst/>
          </c:spPr>
          <c:invertIfNegative val="0"/>
          <c:cat>
            <c:strRef>
              <c:f>Sheet6!$A$6:$A$14</c:f>
              <c:strCache>
                <c:ptCount val="8"/>
                <c:pt idx="0">
                  <c:v>Action</c:v>
                </c:pt>
                <c:pt idx="1">
                  <c:v>Fighting</c:v>
                </c:pt>
                <c:pt idx="2">
                  <c:v>Platform</c:v>
                </c:pt>
                <c:pt idx="3">
                  <c:v>Racing</c:v>
                </c:pt>
                <c:pt idx="4">
                  <c:v>Role-Playing</c:v>
                </c:pt>
                <c:pt idx="5">
                  <c:v>Shooter</c:v>
                </c:pt>
                <c:pt idx="6">
                  <c:v>Sports</c:v>
                </c:pt>
                <c:pt idx="7">
                  <c:v>Strategy</c:v>
                </c:pt>
              </c:strCache>
            </c:strRef>
          </c:cat>
          <c:val>
            <c:numRef>
              <c:f>Sheet6!$D$6:$D$14</c:f>
              <c:numCache>
                <c:formatCode>General</c:formatCode>
                <c:ptCount val="8"/>
                <c:pt idx="0">
                  <c:v>5.79</c:v>
                </c:pt>
                <c:pt idx="1">
                  <c:v>0.64</c:v>
                </c:pt>
                <c:pt idx="2">
                  <c:v>0.11000000000000001</c:v>
                </c:pt>
                <c:pt idx="3">
                  <c:v>0.01</c:v>
                </c:pt>
                <c:pt idx="4">
                  <c:v>3.63</c:v>
                </c:pt>
                <c:pt idx="5">
                  <c:v>0.61</c:v>
                </c:pt>
                <c:pt idx="6">
                  <c:v>0.77999999999999992</c:v>
                </c:pt>
                <c:pt idx="7">
                  <c:v>0.05</c:v>
                </c:pt>
              </c:numCache>
            </c:numRef>
          </c:val>
          <c:extLst>
            <c:ext xmlns:c16="http://schemas.microsoft.com/office/drawing/2014/chart" uri="{C3380CC4-5D6E-409C-BE32-E72D297353CC}">
              <c16:uniqueId val="{00000002-B91D-A54B-BD8C-FD8338522A39}"/>
            </c:ext>
          </c:extLst>
        </c:ser>
        <c:dLbls>
          <c:showLegendKey val="0"/>
          <c:showVal val="0"/>
          <c:showCatName val="0"/>
          <c:showSerName val="0"/>
          <c:showPercent val="0"/>
          <c:showBubbleSize val="0"/>
        </c:dLbls>
        <c:gapWidth val="219"/>
        <c:overlap val="-27"/>
        <c:axId val="1331209807"/>
        <c:axId val="1331211711"/>
      </c:barChart>
      <c:catAx>
        <c:axId val="133120980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a:t>Genres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1211711"/>
        <c:crosses val="autoZero"/>
        <c:auto val="1"/>
        <c:lblAlgn val="ctr"/>
        <c:lblOffset val="100"/>
        <c:noMultiLvlLbl val="0"/>
      </c:catAx>
      <c:valAx>
        <c:axId val="133121171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a:t>Sales in</a:t>
                </a:r>
                <a:r>
                  <a:rPr lang="en-US" b="1" baseline="0"/>
                  <a:t> (millions)</a:t>
                </a:r>
                <a:endParaRPr lang="en-US" b="1"/>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120980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0.7828</cdr:x>
      <cdr:y>0.2121</cdr:y>
    </cdr:from>
    <cdr:to>
      <cdr:x>0.86976</cdr:x>
      <cdr:y>0.42225</cdr:y>
    </cdr:to>
    <cdr:sp macro="" textlink="">
      <cdr:nvSpPr>
        <cdr:cNvPr id="2" name="TextBox 1">
          <a:extLst xmlns:a="http://schemas.openxmlformats.org/drawingml/2006/main">
            <a:ext uri="{FF2B5EF4-FFF2-40B4-BE49-F238E27FC236}">
              <a16:creationId xmlns:a16="http://schemas.microsoft.com/office/drawing/2014/main" id="{28E397EE-0D63-2946-CC0B-4E523FA8EBB7}"/>
            </a:ext>
          </a:extLst>
        </cdr:cNvPr>
        <cdr:cNvSpPr txBox="1"/>
      </cdr:nvSpPr>
      <cdr:spPr>
        <a:xfrm xmlns:a="http://schemas.openxmlformats.org/drawingml/2006/main">
          <a:off x="8231659" y="922939"/>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0.71347</cdr:x>
      <cdr:y>0.26038</cdr:y>
    </cdr:from>
    <cdr:to>
      <cdr:x>0.9765</cdr:x>
      <cdr:y>0.33137</cdr:y>
    </cdr:to>
    <cdr:sp macro="" textlink="">
      <cdr:nvSpPr>
        <cdr:cNvPr id="3" name="TextBox 2">
          <a:extLst xmlns:a="http://schemas.openxmlformats.org/drawingml/2006/main">
            <a:ext uri="{FF2B5EF4-FFF2-40B4-BE49-F238E27FC236}">
              <a16:creationId xmlns:a16="http://schemas.microsoft.com/office/drawing/2014/main" id="{01A57422-0A23-C1F4-A4E8-B4E06B0F1235}"/>
            </a:ext>
          </a:extLst>
        </cdr:cNvPr>
        <cdr:cNvSpPr txBox="1"/>
      </cdr:nvSpPr>
      <cdr:spPr>
        <a:xfrm xmlns:a="http://schemas.openxmlformats.org/drawingml/2006/main">
          <a:off x="7502613" y="1133003"/>
          <a:ext cx="2765853" cy="308919"/>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100" dirty="0"/>
            <a:t>Point where Europe sales eclipse NA sales </a:t>
          </a:r>
        </a:p>
      </cdr:txBody>
    </cdr:sp>
  </cdr:relSizeAnchor>
</c:userShape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18:45:50.163"/>
    </inkml:context>
    <inkml:brush xml:id="br0">
      <inkml:brushProperty name="width" value="0.035" units="cm"/>
      <inkml:brushProperty name="height" value="0.035" units="cm"/>
    </inkml:brush>
  </inkml:definitions>
  <inkml:trace contextRef="#ctx0" brushRef="#br0">626 1 24575,'-8'3'0,"-11"9"0,12-3 0,-10 2 0,12-4 0,-3-6 0,4 6 0,-10 1 0,11 0 0,-25 14 0,24-12 0,-28 15 0,29-15 0,-22 8 0,19-13 0,-13 9 0,14-9 0,-16 13 0,14-12 0,-22 22 0,19-24 0,-12 21 0,13-24 0,-6 13 0,10-9 0,-6 3 0,7-4 0,-8 2 0,7 0 0,-9 5 0,9-7 0,-17 10 0,15-8 0,-18 16 0,19-16 0,-9 11 0,7-15 0,4 8 0,-3-6 0,6 4 0,-6 0 0,2-4 0,1 3 0,-3-2 0,6 2 0,-6-2 0,6 2 0,-6-3 0,3 7 0,-4-6 0,3 9 0,2-9 0,-1 3 0,3-1 0,-2-3 0,-1 4 0,3 0 0,-6-4 0,7 3 0,-4-3 0,1 1 0,2 2 0,-10 7 0,6-7 0,-7 14 0,4-19 0,1 5 0,2-4 0,-2-2 0,6 6 0,-6-6 0,6 2 0,-2-3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18:45:51.454"/>
    </inkml:context>
    <inkml:brush xml:id="br0">
      <inkml:brushProperty name="width" value="0.035" units="cm"/>
      <inkml:brushProperty name="height" value="0.035" units="cm"/>
    </inkml:brush>
  </inkml:definitions>
  <inkml:trace contextRef="#ctx0" brushRef="#br0">0 1 24575,'8'0'0,"0"0"0,-1 0 0,1 0 0,0 0 0,-4 3 0,3-2 0,1 6 0,1-6 0,-2 6 0,0-7 0,-6 7 0,6-6 0,-6 6 0,2-3 0,-3 4 0,0 0 0,0 0 0,0-1 0,0 1 0,0 0 0,0 0 0,0 10 0,-3-8 0,-2 22 0,1-20 0,1 9 0,-1-13 0,3 0 0,-2-1 0,3 1 0,-4 3 0,0-2 0,-4 13 0,3-12 0,2 15 0,3-15 0,-7 15 0,5-15 0,-5 19 0,7-19 0,0 8 0,0-10 0,0 0 0,0-1 0,7 25 0,-5-18 0,5 25 0,-4-33 0,1 5 0,4-11 0,0 0 0,-4-4 0,20-7 0,-15 4 0,40-17 0,-35 17 0,35-15 0,-40 13 0,33-9 0,-34 11 0,14-7 0,-15 13 0,0-6 0,2 7 0,6-7 0,-7 6 0,4-6 0,-5 2 0,1-3 0,-3 0 0,-6 4 0,1 1 0,-4 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41B65-B5ED-DE19-A59B-2975DDF36D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EC307D-F78D-5DAF-C923-ED75BC8565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D2E515-715F-BB26-4D70-308582DD6125}"/>
              </a:ext>
            </a:extLst>
          </p:cNvPr>
          <p:cNvSpPr>
            <a:spLocks noGrp="1"/>
          </p:cNvSpPr>
          <p:nvPr>
            <p:ph type="dt" sz="half" idx="10"/>
          </p:nvPr>
        </p:nvSpPr>
        <p:spPr/>
        <p:txBody>
          <a:bodyPr/>
          <a:lstStyle/>
          <a:p>
            <a:fld id="{A35C23B8-8D03-3449-BAE3-0A67B75CE531}" type="datetimeFigureOut">
              <a:rPr lang="en-US" smtClean="0"/>
              <a:t>10/10/24</a:t>
            </a:fld>
            <a:endParaRPr lang="en-US" dirty="0"/>
          </a:p>
        </p:txBody>
      </p:sp>
      <p:sp>
        <p:nvSpPr>
          <p:cNvPr id="5" name="Footer Placeholder 4">
            <a:extLst>
              <a:ext uri="{FF2B5EF4-FFF2-40B4-BE49-F238E27FC236}">
                <a16:creationId xmlns:a16="http://schemas.microsoft.com/office/drawing/2014/main" id="{813D3968-6175-6AA5-A834-6B13B4BC803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2B44C9-5B04-0CC6-9E52-C5A559B4637B}"/>
              </a:ext>
            </a:extLst>
          </p:cNvPr>
          <p:cNvSpPr>
            <a:spLocks noGrp="1"/>
          </p:cNvSpPr>
          <p:nvPr>
            <p:ph type="sldNum" sz="quarter" idx="12"/>
          </p:nvPr>
        </p:nvSpPr>
        <p:spPr/>
        <p:txBody>
          <a:bodyPr/>
          <a:lstStyle/>
          <a:p>
            <a:fld id="{5AF6702E-56E0-2042-AB42-509AB82E41EC}" type="slidenum">
              <a:rPr lang="en-US" smtClean="0"/>
              <a:t>‹#›</a:t>
            </a:fld>
            <a:endParaRPr lang="en-US" dirty="0"/>
          </a:p>
        </p:txBody>
      </p:sp>
    </p:spTree>
    <p:extLst>
      <p:ext uri="{BB962C8B-B14F-4D97-AF65-F5344CB8AC3E}">
        <p14:creationId xmlns:p14="http://schemas.microsoft.com/office/powerpoint/2010/main" val="16441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0EBC-5E1C-77DA-A3D7-9271119D88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12E42F-05AF-3476-676C-6F22E56C32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CA9DF8-6505-18E9-B610-AB26C6F9F09F}"/>
              </a:ext>
            </a:extLst>
          </p:cNvPr>
          <p:cNvSpPr>
            <a:spLocks noGrp="1"/>
          </p:cNvSpPr>
          <p:nvPr>
            <p:ph type="dt" sz="half" idx="10"/>
          </p:nvPr>
        </p:nvSpPr>
        <p:spPr/>
        <p:txBody>
          <a:bodyPr/>
          <a:lstStyle/>
          <a:p>
            <a:fld id="{A35C23B8-8D03-3449-BAE3-0A67B75CE531}" type="datetimeFigureOut">
              <a:rPr lang="en-US" smtClean="0"/>
              <a:t>10/10/24</a:t>
            </a:fld>
            <a:endParaRPr lang="en-US" dirty="0"/>
          </a:p>
        </p:txBody>
      </p:sp>
      <p:sp>
        <p:nvSpPr>
          <p:cNvPr id="5" name="Footer Placeholder 4">
            <a:extLst>
              <a:ext uri="{FF2B5EF4-FFF2-40B4-BE49-F238E27FC236}">
                <a16:creationId xmlns:a16="http://schemas.microsoft.com/office/drawing/2014/main" id="{F28C068D-F7A2-7BBB-F5B6-04B5B5C5EC1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906B25B-4B69-4888-8122-0171F167E6DD}"/>
              </a:ext>
            </a:extLst>
          </p:cNvPr>
          <p:cNvSpPr>
            <a:spLocks noGrp="1"/>
          </p:cNvSpPr>
          <p:nvPr>
            <p:ph type="sldNum" sz="quarter" idx="12"/>
          </p:nvPr>
        </p:nvSpPr>
        <p:spPr/>
        <p:txBody>
          <a:bodyPr/>
          <a:lstStyle/>
          <a:p>
            <a:fld id="{5AF6702E-56E0-2042-AB42-509AB82E41EC}" type="slidenum">
              <a:rPr lang="en-US" smtClean="0"/>
              <a:t>‹#›</a:t>
            </a:fld>
            <a:endParaRPr lang="en-US" dirty="0"/>
          </a:p>
        </p:txBody>
      </p:sp>
    </p:spTree>
    <p:extLst>
      <p:ext uri="{BB962C8B-B14F-4D97-AF65-F5344CB8AC3E}">
        <p14:creationId xmlns:p14="http://schemas.microsoft.com/office/powerpoint/2010/main" val="2773333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78DCA-4EE0-D3CD-E024-8DB9694AB3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84DD90-5CB0-35ED-55CA-2552B6EDFA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C76B34-86C4-C862-F2BA-F4666714D3F3}"/>
              </a:ext>
            </a:extLst>
          </p:cNvPr>
          <p:cNvSpPr>
            <a:spLocks noGrp="1"/>
          </p:cNvSpPr>
          <p:nvPr>
            <p:ph type="dt" sz="half" idx="10"/>
          </p:nvPr>
        </p:nvSpPr>
        <p:spPr/>
        <p:txBody>
          <a:bodyPr/>
          <a:lstStyle/>
          <a:p>
            <a:fld id="{A35C23B8-8D03-3449-BAE3-0A67B75CE531}" type="datetimeFigureOut">
              <a:rPr lang="en-US" smtClean="0"/>
              <a:t>10/10/24</a:t>
            </a:fld>
            <a:endParaRPr lang="en-US" dirty="0"/>
          </a:p>
        </p:txBody>
      </p:sp>
      <p:sp>
        <p:nvSpPr>
          <p:cNvPr id="5" name="Footer Placeholder 4">
            <a:extLst>
              <a:ext uri="{FF2B5EF4-FFF2-40B4-BE49-F238E27FC236}">
                <a16:creationId xmlns:a16="http://schemas.microsoft.com/office/drawing/2014/main" id="{D8D50163-815B-97A6-C32F-38496B49DD0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4671900-F47F-2F02-B104-B7EE35F83E9B}"/>
              </a:ext>
            </a:extLst>
          </p:cNvPr>
          <p:cNvSpPr>
            <a:spLocks noGrp="1"/>
          </p:cNvSpPr>
          <p:nvPr>
            <p:ph type="sldNum" sz="quarter" idx="12"/>
          </p:nvPr>
        </p:nvSpPr>
        <p:spPr/>
        <p:txBody>
          <a:bodyPr/>
          <a:lstStyle/>
          <a:p>
            <a:fld id="{5AF6702E-56E0-2042-AB42-509AB82E41EC}" type="slidenum">
              <a:rPr lang="en-US" smtClean="0"/>
              <a:t>‹#›</a:t>
            </a:fld>
            <a:endParaRPr lang="en-US" dirty="0"/>
          </a:p>
        </p:txBody>
      </p:sp>
    </p:spTree>
    <p:extLst>
      <p:ext uri="{BB962C8B-B14F-4D97-AF65-F5344CB8AC3E}">
        <p14:creationId xmlns:p14="http://schemas.microsoft.com/office/powerpoint/2010/main" val="974937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D2853-521E-A875-102E-64723E649F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C47E30-0F08-68AB-4C44-D2A30BF367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ED330F-AD4C-886C-2005-882B1BE82A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6F3ACB-5008-C33E-268F-9BE007CDB859}"/>
              </a:ext>
            </a:extLst>
          </p:cNvPr>
          <p:cNvSpPr>
            <a:spLocks noGrp="1"/>
          </p:cNvSpPr>
          <p:nvPr>
            <p:ph type="dt" sz="half" idx="10"/>
          </p:nvPr>
        </p:nvSpPr>
        <p:spPr/>
        <p:txBody>
          <a:bodyPr/>
          <a:lstStyle/>
          <a:p>
            <a:fld id="{A35C23B8-8D03-3449-BAE3-0A67B75CE531}" type="datetimeFigureOut">
              <a:rPr lang="en-US" smtClean="0"/>
              <a:t>10/10/24</a:t>
            </a:fld>
            <a:endParaRPr lang="en-US" dirty="0"/>
          </a:p>
        </p:txBody>
      </p:sp>
      <p:sp>
        <p:nvSpPr>
          <p:cNvPr id="6" name="Footer Placeholder 5">
            <a:extLst>
              <a:ext uri="{FF2B5EF4-FFF2-40B4-BE49-F238E27FC236}">
                <a16:creationId xmlns:a16="http://schemas.microsoft.com/office/drawing/2014/main" id="{CB9FEEAF-D1D3-B0DF-E23F-75D803F47A5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02B7906-5C61-E45E-0A6A-344C5DB4AEB9}"/>
              </a:ext>
            </a:extLst>
          </p:cNvPr>
          <p:cNvSpPr>
            <a:spLocks noGrp="1"/>
          </p:cNvSpPr>
          <p:nvPr>
            <p:ph type="sldNum" sz="quarter" idx="12"/>
          </p:nvPr>
        </p:nvSpPr>
        <p:spPr/>
        <p:txBody>
          <a:bodyPr/>
          <a:lstStyle/>
          <a:p>
            <a:fld id="{5AF6702E-56E0-2042-AB42-509AB82E41EC}" type="slidenum">
              <a:rPr lang="en-US" smtClean="0"/>
              <a:t>‹#›</a:t>
            </a:fld>
            <a:endParaRPr lang="en-US" dirty="0"/>
          </a:p>
        </p:txBody>
      </p:sp>
    </p:spTree>
    <p:extLst>
      <p:ext uri="{BB962C8B-B14F-4D97-AF65-F5344CB8AC3E}">
        <p14:creationId xmlns:p14="http://schemas.microsoft.com/office/powerpoint/2010/main" val="2233041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0A0AA-849F-9178-3422-A9631D9C3E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C42907-3CF5-52C8-129E-30DD994077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C09518-1388-1311-62E8-0BEFFCA668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EFBC916-87F4-D21A-9AB4-346EF27355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20E7E1-D4AA-B236-E447-8BCD0C9C16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E39A811-3969-53D1-39EF-069D63D736FC}"/>
              </a:ext>
            </a:extLst>
          </p:cNvPr>
          <p:cNvSpPr>
            <a:spLocks noGrp="1"/>
          </p:cNvSpPr>
          <p:nvPr>
            <p:ph type="dt" sz="half" idx="10"/>
          </p:nvPr>
        </p:nvSpPr>
        <p:spPr/>
        <p:txBody>
          <a:bodyPr/>
          <a:lstStyle/>
          <a:p>
            <a:fld id="{A35C23B8-8D03-3449-BAE3-0A67B75CE531}" type="datetimeFigureOut">
              <a:rPr lang="en-US" smtClean="0"/>
              <a:t>10/10/24</a:t>
            </a:fld>
            <a:endParaRPr lang="en-US" dirty="0"/>
          </a:p>
        </p:txBody>
      </p:sp>
      <p:sp>
        <p:nvSpPr>
          <p:cNvPr id="8" name="Footer Placeholder 7">
            <a:extLst>
              <a:ext uri="{FF2B5EF4-FFF2-40B4-BE49-F238E27FC236}">
                <a16:creationId xmlns:a16="http://schemas.microsoft.com/office/drawing/2014/main" id="{4ACA4D9A-C060-03ED-4F86-B785050CB60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D754B70-52E3-279A-33F6-E67F3A6530C7}"/>
              </a:ext>
            </a:extLst>
          </p:cNvPr>
          <p:cNvSpPr>
            <a:spLocks noGrp="1"/>
          </p:cNvSpPr>
          <p:nvPr>
            <p:ph type="sldNum" sz="quarter" idx="12"/>
          </p:nvPr>
        </p:nvSpPr>
        <p:spPr/>
        <p:txBody>
          <a:bodyPr/>
          <a:lstStyle/>
          <a:p>
            <a:fld id="{5AF6702E-56E0-2042-AB42-509AB82E41EC}" type="slidenum">
              <a:rPr lang="en-US" smtClean="0"/>
              <a:t>‹#›</a:t>
            </a:fld>
            <a:endParaRPr lang="en-US" dirty="0"/>
          </a:p>
        </p:txBody>
      </p:sp>
    </p:spTree>
    <p:extLst>
      <p:ext uri="{BB962C8B-B14F-4D97-AF65-F5344CB8AC3E}">
        <p14:creationId xmlns:p14="http://schemas.microsoft.com/office/powerpoint/2010/main" val="2792513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0EEDD-8574-25A8-7D20-F7F5860E75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EDF9E3-CE72-7234-5FEC-F79240271AE6}"/>
              </a:ext>
            </a:extLst>
          </p:cNvPr>
          <p:cNvSpPr>
            <a:spLocks noGrp="1"/>
          </p:cNvSpPr>
          <p:nvPr>
            <p:ph type="dt" sz="half" idx="10"/>
          </p:nvPr>
        </p:nvSpPr>
        <p:spPr/>
        <p:txBody>
          <a:bodyPr/>
          <a:lstStyle/>
          <a:p>
            <a:fld id="{A35C23B8-8D03-3449-BAE3-0A67B75CE531}" type="datetimeFigureOut">
              <a:rPr lang="en-US" smtClean="0"/>
              <a:t>10/10/24</a:t>
            </a:fld>
            <a:endParaRPr lang="en-US" dirty="0"/>
          </a:p>
        </p:txBody>
      </p:sp>
      <p:sp>
        <p:nvSpPr>
          <p:cNvPr id="4" name="Footer Placeholder 3">
            <a:extLst>
              <a:ext uri="{FF2B5EF4-FFF2-40B4-BE49-F238E27FC236}">
                <a16:creationId xmlns:a16="http://schemas.microsoft.com/office/drawing/2014/main" id="{51E3225F-66F9-7F25-790D-0869CFEFF4B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1C7C0F4-3741-F627-0F17-22DD6AD93C2E}"/>
              </a:ext>
            </a:extLst>
          </p:cNvPr>
          <p:cNvSpPr>
            <a:spLocks noGrp="1"/>
          </p:cNvSpPr>
          <p:nvPr>
            <p:ph type="sldNum" sz="quarter" idx="12"/>
          </p:nvPr>
        </p:nvSpPr>
        <p:spPr/>
        <p:txBody>
          <a:bodyPr/>
          <a:lstStyle/>
          <a:p>
            <a:fld id="{5AF6702E-56E0-2042-AB42-509AB82E41EC}" type="slidenum">
              <a:rPr lang="en-US" smtClean="0"/>
              <a:t>‹#›</a:t>
            </a:fld>
            <a:endParaRPr lang="en-US" dirty="0"/>
          </a:p>
        </p:txBody>
      </p:sp>
    </p:spTree>
    <p:extLst>
      <p:ext uri="{BB962C8B-B14F-4D97-AF65-F5344CB8AC3E}">
        <p14:creationId xmlns:p14="http://schemas.microsoft.com/office/powerpoint/2010/main" val="3949363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4E3D76-12F4-CC45-72EA-B22C3C75C0FA}"/>
              </a:ext>
            </a:extLst>
          </p:cNvPr>
          <p:cNvSpPr>
            <a:spLocks noGrp="1"/>
          </p:cNvSpPr>
          <p:nvPr>
            <p:ph type="dt" sz="half" idx="10"/>
          </p:nvPr>
        </p:nvSpPr>
        <p:spPr/>
        <p:txBody>
          <a:bodyPr/>
          <a:lstStyle/>
          <a:p>
            <a:fld id="{A35C23B8-8D03-3449-BAE3-0A67B75CE531}" type="datetimeFigureOut">
              <a:rPr lang="en-US" smtClean="0"/>
              <a:t>10/10/24</a:t>
            </a:fld>
            <a:endParaRPr lang="en-US" dirty="0"/>
          </a:p>
        </p:txBody>
      </p:sp>
      <p:sp>
        <p:nvSpPr>
          <p:cNvPr id="3" name="Footer Placeholder 2">
            <a:extLst>
              <a:ext uri="{FF2B5EF4-FFF2-40B4-BE49-F238E27FC236}">
                <a16:creationId xmlns:a16="http://schemas.microsoft.com/office/drawing/2014/main" id="{8D703323-4073-2C36-07FE-5A1E624040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471E85A-C307-72A8-D729-7771B8483EE0}"/>
              </a:ext>
            </a:extLst>
          </p:cNvPr>
          <p:cNvSpPr>
            <a:spLocks noGrp="1"/>
          </p:cNvSpPr>
          <p:nvPr>
            <p:ph type="sldNum" sz="quarter" idx="12"/>
          </p:nvPr>
        </p:nvSpPr>
        <p:spPr/>
        <p:txBody>
          <a:bodyPr/>
          <a:lstStyle/>
          <a:p>
            <a:fld id="{5AF6702E-56E0-2042-AB42-509AB82E41EC}" type="slidenum">
              <a:rPr lang="en-US" smtClean="0"/>
              <a:t>‹#›</a:t>
            </a:fld>
            <a:endParaRPr lang="en-US" dirty="0"/>
          </a:p>
        </p:txBody>
      </p:sp>
    </p:spTree>
    <p:extLst>
      <p:ext uri="{BB962C8B-B14F-4D97-AF65-F5344CB8AC3E}">
        <p14:creationId xmlns:p14="http://schemas.microsoft.com/office/powerpoint/2010/main" val="3864055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14864-C9AA-1580-BA86-BE0F9766F1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B9925C-9DEB-C484-ABC6-BAB729A236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A32F2D-ED3E-C17D-6CEF-F385D21571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D15715-A181-04CA-57EA-7FF665E8200E}"/>
              </a:ext>
            </a:extLst>
          </p:cNvPr>
          <p:cNvSpPr>
            <a:spLocks noGrp="1"/>
          </p:cNvSpPr>
          <p:nvPr>
            <p:ph type="dt" sz="half" idx="10"/>
          </p:nvPr>
        </p:nvSpPr>
        <p:spPr/>
        <p:txBody>
          <a:bodyPr/>
          <a:lstStyle/>
          <a:p>
            <a:fld id="{A35C23B8-8D03-3449-BAE3-0A67B75CE531}" type="datetimeFigureOut">
              <a:rPr lang="en-US" smtClean="0"/>
              <a:t>10/10/24</a:t>
            </a:fld>
            <a:endParaRPr lang="en-US" dirty="0"/>
          </a:p>
        </p:txBody>
      </p:sp>
      <p:sp>
        <p:nvSpPr>
          <p:cNvPr id="6" name="Footer Placeholder 5">
            <a:extLst>
              <a:ext uri="{FF2B5EF4-FFF2-40B4-BE49-F238E27FC236}">
                <a16:creationId xmlns:a16="http://schemas.microsoft.com/office/drawing/2014/main" id="{1D96039F-1CC4-1449-B793-C73149893E2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4DCA805-580B-53D6-E449-C743F288EF36}"/>
              </a:ext>
            </a:extLst>
          </p:cNvPr>
          <p:cNvSpPr>
            <a:spLocks noGrp="1"/>
          </p:cNvSpPr>
          <p:nvPr>
            <p:ph type="sldNum" sz="quarter" idx="12"/>
          </p:nvPr>
        </p:nvSpPr>
        <p:spPr/>
        <p:txBody>
          <a:bodyPr/>
          <a:lstStyle/>
          <a:p>
            <a:fld id="{5AF6702E-56E0-2042-AB42-509AB82E41EC}" type="slidenum">
              <a:rPr lang="en-US" smtClean="0"/>
              <a:t>‹#›</a:t>
            </a:fld>
            <a:endParaRPr lang="en-US" dirty="0"/>
          </a:p>
        </p:txBody>
      </p:sp>
    </p:spTree>
    <p:extLst>
      <p:ext uri="{BB962C8B-B14F-4D97-AF65-F5344CB8AC3E}">
        <p14:creationId xmlns:p14="http://schemas.microsoft.com/office/powerpoint/2010/main" val="2772130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D4C2D-16EB-514F-CFBB-20A172340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088AEF-891E-B4B7-73C9-7FFAF5CE7F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B4BFD91-B862-35E8-F20B-37FE057F10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A306A4-1C4D-2208-E2CD-4597F6619DCC}"/>
              </a:ext>
            </a:extLst>
          </p:cNvPr>
          <p:cNvSpPr>
            <a:spLocks noGrp="1"/>
          </p:cNvSpPr>
          <p:nvPr>
            <p:ph type="dt" sz="half" idx="10"/>
          </p:nvPr>
        </p:nvSpPr>
        <p:spPr/>
        <p:txBody>
          <a:bodyPr/>
          <a:lstStyle/>
          <a:p>
            <a:fld id="{A35C23B8-8D03-3449-BAE3-0A67B75CE531}" type="datetimeFigureOut">
              <a:rPr lang="en-US" smtClean="0"/>
              <a:t>10/10/24</a:t>
            </a:fld>
            <a:endParaRPr lang="en-US" dirty="0"/>
          </a:p>
        </p:txBody>
      </p:sp>
      <p:sp>
        <p:nvSpPr>
          <p:cNvPr id="6" name="Footer Placeholder 5">
            <a:extLst>
              <a:ext uri="{FF2B5EF4-FFF2-40B4-BE49-F238E27FC236}">
                <a16:creationId xmlns:a16="http://schemas.microsoft.com/office/drawing/2014/main" id="{BE5E322C-BCB6-3D5B-0AFB-98713D787CC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3337D16-5428-5534-751F-CC72539572D3}"/>
              </a:ext>
            </a:extLst>
          </p:cNvPr>
          <p:cNvSpPr>
            <a:spLocks noGrp="1"/>
          </p:cNvSpPr>
          <p:nvPr>
            <p:ph type="sldNum" sz="quarter" idx="12"/>
          </p:nvPr>
        </p:nvSpPr>
        <p:spPr/>
        <p:txBody>
          <a:bodyPr/>
          <a:lstStyle/>
          <a:p>
            <a:fld id="{5AF6702E-56E0-2042-AB42-509AB82E41EC}" type="slidenum">
              <a:rPr lang="en-US" smtClean="0"/>
              <a:t>‹#›</a:t>
            </a:fld>
            <a:endParaRPr lang="en-US" dirty="0"/>
          </a:p>
        </p:txBody>
      </p:sp>
    </p:spTree>
    <p:extLst>
      <p:ext uri="{BB962C8B-B14F-4D97-AF65-F5344CB8AC3E}">
        <p14:creationId xmlns:p14="http://schemas.microsoft.com/office/powerpoint/2010/main" val="521392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017EF-02D4-A01A-94D1-BF6D37AC64B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EA2044-B244-0AB3-CAE4-F1D1BD3F7B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28D649-F0A0-0A89-2C49-D30BFCE9FFD8}"/>
              </a:ext>
            </a:extLst>
          </p:cNvPr>
          <p:cNvSpPr>
            <a:spLocks noGrp="1"/>
          </p:cNvSpPr>
          <p:nvPr>
            <p:ph type="dt" sz="half" idx="10"/>
          </p:nvPr>
        </p:nvSpPr>
        <p:spPr/>
        <p:txBody>
          <a:bodyPr/>
          <a:lstStyle/>
          <a:p>
            <a:fld id="{A35C23B8-8D03-3449-BAE3-0A67B75CE531}" type="datetimeFigureOut">
              <a:rPr lang="en-US" smtClean="0"/>
              <a:t>10/10/24</a:t>
            </a:fld>
            <a:endParaRPr lang="en-US" dirty="0"/>
          </a:p>
        </p:txBody>
      </p:sp>
      <p:sp>
        <p:nvSpPr>
          <p:cNvPr id="5" name="Footer Placeholder 4">
            <a:extLst>
              <a:ext uri="{FF2B5EF4-FFF2-40B4-BE49-F238E27FC236}">
                <a16:creationId xmlns:a16="http://schemas.microsoft.com/office/drawing/2014/main" id="{D70F207A-EC2A-3A19-DAE8-9D5E2F60A35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D227BF-FD7E-B83E-8B90-4C9B1107ACF0}"/>
              </a:ext>
            </a:extLst>
          </p:cNvPr>
          <p:cNvSpPr>
            <a:spLocks noGrp="1"/>
          </p:cNvSpPr>
          <p:nvPr>
            <p:ph type="sldNum" sz="quarter" idx="12"/>
          </p:nvPr>
        </p:nvSpPr>
        <p:spPr/>
        <p:txBody>
          <a:bodyPr/>
          <a:lstStyle/>
          <a:p>
            <a:fld id="{5AF6702E-56E0-2042-AB42-509AB82E41EC}" type="slidenum">
              <a:rPr lang="en-US" smtClean="0"/>
              <a:t>‹#›</a:t>
            </a:fld>
            <a:endParaRPr lang="en-US" dirty="0"/>
          </a:p>
        </p:txBody>
      </p:sp>
    </p:spTree>
    <p:extLst>
      <p:ext uri="{BB962C8B-B14F-4D97-AF65-F5344CB8AC3E}">
        <p14:creationId xmlns:p14="http://schemas.microsoft.com/office/powerpoint/2010/main" val="1536448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A1E367-A264-B117-6F33-64D96D57CD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40A7DD-5783-8375-AD14-D4E8DB9927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7BBEA0-6EA3-2234-3CE3-B3BAF999F936}"/>
              </a:ext>
            </a:extLst>
          </p:cNvPr>
          <p:cNvSpPr>
            <a:spLocks noGrp="1"/>
          </p:cNvSpPr>
          <p:nvPr>
            <p:ph type="dt" sz="half" idx="10"/>
          </p:nvPr>
        </p:nvSpPr>
        <p:spPr/>
        <p:txBody>
          <a:bodyPr/>
          <a:lstStyle/>
          <a:p>
            <a:fld id="{A35C23B8-8D03-3449-BAE3-0A67B75CE531}" type="datetimeFigureOut">
              <a:rPr lang="en-US" smtClean="0"/>
              <a:t>10/10/24</a:t>
            </a:fld>
            <a:endParaRPr lang="en-US" dirty="0"/>
          </a:p>
        </p:txBody>
      </p:sp>
      <p:sp>
        <p:nvSpPr>
          <p:cNvPr id="5" name="Footer Placeholder 4">
            <a:extLst>
              <a:ext uri="{FF2B5EF4-FFF2-40B4-BE49-F238E27FC236}">
                <a16:creationId xmlns:a16="http://schemas.microsoft.com/office/drawing/2014/main" id="{A11BA116-225B-F07E-4294-0D7425DD33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70C52E-1A37-3FAF-520A-BD60C3CEC554}"/>
              </a:ext>
            </a:extLst>
          </p:cNvPr>
          <p:cNvSpPr>
            <a:spLocks noGrp="1"/>
          </p:cNvSpPr>
          <p:nvPr>
            <p:ph type="sldNum" sz="quarter" idx="12"/>
          </p:nvPr>
        </p:nvSpPr>
        <p:spPr/>
        <p:txBody>
          <a:bodyPr/>
          <a:lstStyle/>
          <a:p>
            <a:fld id="{5AF6702E-56E0-2042-AB42-509AB82E41EC}" type="slidenum">
              <a:rPr lang="en-US" smtClean="0"/>
              <a:t>‹#›</a:t>
            </a:fld>
            <a:endParaRPr lang="en-US" dirty="0"/>
          </a:p>
        </p:txBody>
      </p:sp>
    </p:spTree>
    <p:extLst>
      <p:ext uri="{BB962C8B-B14F-4D97-AF65-F5344CB8AC3E}">
        <p14:creationId xmlns:p14="http://schemas.microsoft.com/office/powerpoint/2010/main" val="2542068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EDC61F-B15E-35E4-AC47-DCEBF12125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B51BF6-9C69-C5F3-EE8E-1C998717B8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3BD3EA-C468-0557-4125-5D9C4BFEEC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5C23B8-8D03-3449-BAE3-0A67B75CE531}" type="datetimeFigureOut">
              <a:rPr lang="en-US" smtClean="0"/>
              <a:t>10/10/24</a:t>
            </a:fld>
            <a:endParaRPr lang="en-US" dirty="0"/>
          </a:p>
        </p:txBody>
      </p:sp>
      <p:sp>
        <p:nvSpPr>
          <p:cNvPr id="5" name="Footer Placeholder 4">
            <a:extLst>
              <a:ext uri="{FF2B5EF4-FFF2-40B4-BE49-F238E27FC236}">
                <a16:creationId xmlns:a16="http://schemas.microsoft.com/office/drawing/2014/main" id="{D06F9981-9845-4AFD-E90C-DC2A091276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0FBAD955-FF39-F0B8-F8F6-26D8EF6052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F6702E-56E0-2042-AB42-509AB82E41EC}" type="slidenum">
              <a:rPr lang="en-US" smtClean="0"/>
              <a:t>‹#›</a:t>
            </a:fld>
            <a:endParaRPr lang="en-US" dirty="0"/>
          </a:p>
        </p:txBody>
      </p:sp>
    </p:spTree>
    <p:extLst>
      <p:ext uri="{BB962C8B-B14F-4D97-AF65-F5344CB8AC3E}">
        <p14:creationId xmlns:p14="http://schemas.microsoft.com/office/powerpoint/2010/main" val="757004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chart" Target="../charts/chart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customXml" Target="../ink/ink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 name="Title 1">
            <a:extLst>
              <a:ext uri="{FF2B5EF4-FFF2-40B4-BE49-F238E27FC236}">
                <a16:creationId xmlns:a16="http://schemas.microsoft.com/office/drawing/2014/main" id="{A2AFCEC6-F5D0-82C4-0233-5325E5A062F0}"/>
              </a:ext>
            </a:extLst>
          </p:cNvPr>
          <p:cNvSpPr>
            <a:spLocks noGrp="1"/>
          </p:cNvSpPr>
          <p:nvPr>
            <p:ph type="ctrTitle"/>
          </p:nvPr>
        </p:nvSpPr>
        <p:spPr>
          <a:xfrm>
            <a:off x="1178564" y="609907"/>
            <a:ext cx="9833548" cy="1325563"/>
          </a:xfrm>
        </p:spPr>
        <p:txBody>
          <a:bodyPr vert="horz" lIns="91440" tIns="45720" rIns="91440" bIns="45720" rtlCol="0" anchor="b">
            <a:normAutofit/>
          </a:bodyPr>
          <a:lstStyle/>
          <a:p>
            <a:r>
              <a:rPr lang="en-US" sz="3600" kern="1200" dirty="0">
                <a:solidFill>
                  <a:schemeClr val="tx2"/>
                </a:solidFill>
                <a:latin typeface="+mj-lt"/>
                <a:ea typeface="+mj-ea"/>
                <a:cs typeface="+mj-cs"/>
              </a:rPr>
              <a:t>GameCo</a:t>
            </a:r>
          </a:p>
        </p:txBody>
      </p:sp>
      <p:grpSp>
        <p:nvGrpSpPr>
          <p:cNvPr id="41" name="Group 40">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42" name="Freeform: Shape 41">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Shape 42">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Shape 44">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Subtitle 2">
            <a:extLst>
              <a:ext uri="{FF2B5EF4-FFF2-40B4-BE49-F238E27FC236}">
                <a16:creationId xmlns:a16="http://schemas.microsoft.com/office/drawing/2014/main" id="{B828E87D-8BC8-70AF-4F46-497F8B5DB8D0}"/>
              </a:ext>
            </a:extLst>
          </p:cNvPr>
          <p:cNvSpPr>
            <a:spLocks noGrp="1"/>
          </p:cNvSpPr>
          <p:nvPr>
            <p:ph type="subTitle" idx="1"/>
          </p:nvPr>
        </p:nvSpPr>
        <p:spPr>
          <a:xfrm>
            <a:off x="1178564" y="2465262"/>
            <a:ext cx="9833548" cy="2457269"/>
          </a:xfrm>
        </p:spPr>
        <p:txBody>
          <a:bodyPr vert="horz" lIns="91440" tIns="45720" rIns="91440" bIns="45720" rtlCol="0">
            <a:normAutofit/>
          </a:bodyPr>
          <a:lstStyle/>
          <a:p>
            <a:pPr algn="l"/>
            <a:r>
              <a:rPr lang="en-US" sz="1800" dirty="0">
                <a:solidFill>
                  <a:schemeClr val="tx2"/>
                </a:solidFill>
              </a:rPr>
              <a:t>As Data Analyst, I’ve performed some analysis of video games sales across some major regions. Our Companies' current understanding it that games sales have stayed steady for the last few years. In this presentation, I want to bring to your attention a particular metric that may prompt us to effectively allocate GameCo sales and marketing resources and ultimately yield in generating higher revenue.  </a:t>
            </a:r>
          </a:p>
          <a:p>
            <a:pPr indent="-228600" algn="l">
              <a:buFont typeface="Arial" panose="020B0604020202020204" pitchFamily="34" charset="0"/>
              <a:buChar char="•"/>
            </a:pPr>
            <a:endParaRPr lang="en-US" sz="1800" dirty="0">
              <a:solidFill>
                <a:schemeClr val="tx2"/>
              </a:solidFill>
            </a:endParaRPr>
          </a:p>
          <a:p>
            <a:pPr indent="-228600" algn="l">
              <a:buFont typeface="Arial" panose="020B0604020202020204" pitchFamily="34" charset="0"/>
              <a:buChar char="•"/>
            </a:pPr>
            <a:endParaRPr lang="en-US" sz="1800" dirty="0">
              <a:solidFill>
                <a:schemeClr val="tx2"/>
              </a:solidFill>
            </a:endParaRPr>
          </a:p>
          <a:p>
            <a:pPr indent="-228600" algn="l">
              <a:buFont typeface="Arial" panose="020B0604020202020204" pitchFamily="34" charset="0"/>
              <a:buChar char="•"/>
            </a:pPr>
            <a:endParaRPr lang="en-US" sz="1800" dirty="0">
              <a:solidFill>
                <a:schemeClr val="tx2"/>
              </a:solidFill>
            </a:endParaRPr>
          </a:p>
          <a:p>
            <a:pPr indent="-228600" algn="l">
              <a:buFont typeface="Arial" panose="020B0604020202020204" pitchFamily="34" charset="0"/>
              <a:buChar char="•"/>
            </a:pPr>
            <a:endParaRPr lang="en-US" sz="1800" dirty="0">
              <a:solidFill>
                <a:schemeClr val="tx2"/>
              </a:solidFill>
            </a:endParaRPr>
          </a:p>
          <a:p>
            <a:pPr indent="-228600" algn="l">
              <a:buFont typeface="Arial" panose="020B0604020202020204" pitchFamily="34" charset="0"/>
              <a:buChar char="•"/>
            </a:pPr>
            <a:endParaRPr lang="en-US" sz="1800" dirty="0">
              <a:solidFill>
                <a:schemeClr val="tx2"/>
              </a:solidFill>
            </a:endParaRPr>
          </a:p>
          <a:p>
            <a:pPr indent="-228600" algn="l">
              <a:buFont typeface="Arial" panose="020B0604020202020204" pitchFamily="34" charset="0"/>
              <a:buChar char="•"/>
            </a:pPr>
            <a:endParaRPr lang="en-US" sz="1800" dirty="0">
              <a:solidFill>
                <a:schemeClr val="tx2"/>
              </a:solidFill>
            </a:endParaRPr>
          </a:p>
          <a:p>
            <a:pPr algn="l"/>
            <a:endParaRPr lang="en-US" sz="1800" dirty="0">
              <a:solidFill>
                <a:schemeClr val="tx2"/>
              </a:solidFill>
            </a:endParaRPr>
          </a:p>
          <a:p>
            <a:pPr indent="-228600" algn="l">
              <a:buFont typeface="Arial" panose="020B0604020202020204" pitchFamily="34" charset="0"/>
              <a:buChar char="•"/>
            </a:pPr>
            <a:endParaRPr lang="en-US" sz="1800" dirty="0">
              <a:solidFill>
                <a:schemeClr val="tx2"/>
              </a:solidFill>
            </a:endParaRPr>
          </a:p>
          <a:p>
            <a:pPr indent="-228600" algn="l">
              <a:buFont typeface="Arial" panose="020B0604020202020204" pitchFamily="34" charset="0"/>
              <a:buChar char="•"/>
            </a:pPr>
            <a:endParaRPr lang="en-US" sz="1800" dirty="0">
              <a:solidFill>
                <a:schemeClr val="tx2"/>
              </a:solidFill>
            </a:endParaRPr>
          </a:p>
          <a:p>
            <a:pPr indent="-228600" algn="l">
              <a:buFont typeface="Arial" panose="020B0604020202020204" pitchFamily="34" charset="0"/>
              <a:buChar char="•"/>
            </a:pPr>
            <a:endParaRPr lang="en-US" sz="1800" dirty="0">
              <a:solidFill>
                <a:schemeClr val="tx2"/>
              </a:solidFill>
            </a:endParaRPr>
          </a:p>
        </p:txBody>
      </p:sp>
      <p:grpSp>
        <p:nvGrpSpPr>
          <p:cNvPr id="47" name="Group 46">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48" name="Freeform: Shape 47">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Freeform: Shape 48">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Freeform: Shape 49">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Freeform: Shape 50">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27802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7817B235-4A68-9EF8-41E8-69454A24DF73}"/>
              </a:ext>
            </a:extLst>
          </p:cNvPr>
          <p:cNvGraphicFramePr/>
          <p:nvPr>
            <p:extLst>
              <p:ext uri="{D42A27DB-BD31-4B8C-83A1-F6EECF244321}">
                <p14:modId xmlns:p14="http://schemas.microsoft.com/office/powerpoint/2010/main" val="3610555434"/>
              </p:ext>
            </p:extLst>
          </p:nvPr>
        </p:nvGraphicFramePr>
        <p:xfrm>
          <a:off x="729047" y="1852499"/>
          <a:ext cx="10799807" cy="4106434"/>
        </p:xfrm>
        <a:graphic>
          <a:graphicData uri="http://schemas.openxmlformats.org/drawingml/2006/chart">
            <c:chart xmlns:c="http://schemas.openxmlformats.org/drawingml/2006/chart" xmlns:r="http://schemas.openxmlformats.org/officeDocument/2006/relationships" r:id="rId2"/>
          </a:graphicData>
        </a:graphic>
      </p:graphicFrame>
      <p:sp>
        <p:nvSpPr>
          <p:cNvPr id="5" name="Title 4">
            <a:extLst>
              <a:ext uri="{FF2B5EF4-FFF2-40B4-BE49-F238E27FC236}">
                <a16:creationId xmlns:a16="http://schemas.microsoft.com/office/drawing/2014/main" id="{D84B7061-5A99-3A6D-92BE-4D00E084F9DC}"/>
              </a:ext>
            </a:extLst>
          </p:cNvPr>
          <p:cNvSpPr>
            <a:spLocks noGrp="1"/>
          </p:cNvSpPr>
          <p:nvPr>
            <p:ph type="ctrTitle"/>
          </p:nvPr>
        </p:nvSpPr>
        <p:spPr>
          <a:xfrm>
            <a:off x="926757" y="497623"/>
            <a:ext cx="10404389" cy="1544866"/>
          </a:xfrm>
        </p:spPr>
        <p:txBody>
          <a:bodyPr>
            <a:normAutofit fontScale="90000"/>
          </a:bodyPr>
          <a:lstStyle/>
          <a:p>
            <a:pPr algn="l"/>
            <a:r>
              <a:rPr lang="en-US" sz="2000" dirty="0">
                <a:solidFill>
                  <a:schemeClr val="tx2"/>
                </a:solidFill>
              </a:rPr>
              <a:t>Upon performing descriptive analysis of the last decade, I’ve come to understand that video game sales have in fact stayed the somewhat same and as of 2016 have seen a record low number of sales. If you take a look the the line chart below, you can see that sale figures across some of the most popular game genres from 2006 to 2016. This chart represents total number of unites sold of top genres across various geographical regions (NA, EU, JP and other). </a:t>
            </a:r>
            <a:br>
              <a:rPr lang="en-US" sz="1800" dirty="0">
                <a:solidFill>
                  <a:schemeClr val="tx2"/>
                </a:solidFill>
              </a:rPr>
            </a:br>
            <a:endParaRPr lang="en-US" sz="1800" dirty="0"/>
          </a:p>
        </p:txBody>
      </p:sp>
      <p:sp>
        <p:nvSpPr>
          <p:cNvPr id="2" name="TextBox 1">
            <a:extLst>
              <a:ext uri="{FF2B5EF4-FFF2-40B4-BE49-F238E27FC236}">
                <a16:creationId xmlns:a16="http://schemas.microsoft.com/office/drawing/2014/main" id="{0D1010FA-A68A-DA8E-E7A1-68843A68F1C1}"/>
              </a:ext>
            </a:extLst>
          </p:cNvPr>
          <p:cNvSpPr txBox="1"/>
          <p:nvPr/>
        </p:nvSpPr>
        <p:spPr>
          <a:xfrm>
            <a:off x="1360449" y="6110868"/>
            <a:ext cx="9032488" cy="646331"/>
          </a:xfrm>
          <a:prstGeom prst="rect">
            <a:avLst/>
          </a:prstGeom>
          <a:noFill/>
        </p:spPr>
        <p:txBody>
          <a:bodyPr wrap="square" rtlCol="0">
            <a:spAutoFit/>
          </a:bodyPr>
          <a:lstStyle/>
          <a:p>
            <a:r>
              <a:rPr lang="en-US" dirty="0"/>
              <a:t>The above graph is visualized by filtering global game sales by top selling genres across all regions from 2006 - 2016 </a:t>
            </a:r>
          </a:p>
        </p:txBody>
      </p:sp>
    </p:spTree>
    <p:extLst>
      <p:ext uri="{BB962C8B-B14F-4D97-AF65-F5344CB8AC3E}">
        <p14:creationId xmlns:p14="http://schemas.microsoft.com/office/powerpoint/2010/main" val="1488856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FF820-8D41-5D8F-6D0F-E6FA42C74620}"/>
              </a:ext>
            </a:extLst>
          </p:cNvPr>
          <p:cNvSpPr>
            <a:spLocks noGrp="1"/>
          </p:cNvSpPr>
          <p:nvPr>
            <p:ph type="title"/>
          </p:nvPr>
        </p:nvSpPr>
        <p:spPr/>
        <p:txBody>
          <a:bodyPr>
            <a:normAutofit/>
          </a:bodyPr>
          <a:lstStyle/>
          <a:p>
            <a:r>
              <a:rPr lang="en-US" sz="1800" dirty="0"/>
              <a:t>Here is a further breakdown of the game sales figures, Here we can see specific genre sales performance for each region. </a:t>
            </a:r>
          </a:p>
        </p:txBody>
      </p:sp>
      <p:graphicFrame>
        <p:nvGraphicFramePr>
          <p:cNvPr id="4" name="Content Placeholder 3">
            <a:extLst>
              <a:ext uri="{FF2B5EF4-FFF2-40B4-BE49-F238E27FC236}">
                <a16:creationId xmlns:a16="http://schemas.microsoft.com/office/drawing/2014/main" id="{C9B02341-8D53-428D-46F8-4361EB11E4DD}"/>
              </a:ext>
            </a:extLst>
          </p:cNvPr>
          <p:cNvGraphicFramePr>
            <a:graphicFrameLocks noGrp="1"/>
          </p:cNvGraphicFramePr>
          <p:nvPr>
            <p:ph idx="1"/>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E3786552-0E10-A31E-BDCB-464D3B4F336D}"/>
              </a:ext>
            </a:extLst>
          </p:cNvPr>
          <p:cNvSpPr txBox="1"/>
          <p:nvPr/>
        </p:nvSpPr>
        <p:spPr>
          <a:xfrm>
            <a:off x="1456038" y="6123543"/>
            <a:ext cx="9279924" cy="646331"/>
          </a:xfrm>
          <a:prstGeom prst="rect">
            <a:avLst/>
          </a:prstGeom>
          <a:noFill/>
        </p:spPr>
        <p:txBody>
          <a:bodyPr wrap="square" rtlCol="0">
            <a:spAutoFit/>
          </a:bodyPr>
          <a:lstStyle/>
          <a:p>
            <a:r>
              <a:rPr lang="en-US" dirty="0"/>
              <a:t>Each line represents a specific region’s top selling genres. Filtered to show sales figures from only 2006 - 2016 </a:t>
            </a:r>
          </a:p>
        </p:txBody>
      </p:sp>
    </p:spTree>
    <p:extLst>
      <p:ext uri="{BB962C8B-B14F-4D97-AF65-F5344CB8AC3E}">
        <p14:creationId xmlns:p14="http://schemas.microsoft.com/office/powerpoint/2010/main" val="653809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16742-31F2-B04B-2394-10F6F2171FC7}"/>
              </a:ext>
            </a:extLst>
          </p:cNvPr>
          <p:cNvSpPr>
            <a:spLocks noGrp="1"/>
          </p:cNvSpPr>
          <p:nvPr>
            <p:ph type="title"/>
          </p:nvPr>
        </p:nvSpPr>
        <p:spPr>
          <a:xfrm>
            <a:off x="838200" y="562834"/>
            <a:ext cx="10515600" cy="1303037"/>
          </a:xfrm>
        </p:spPr>
        <p:txBody>
          <a:bodyPr>
            <a:normAutofit fontScale="90000"/>
          </a:bodyPr>
          <a:lstStyle/>
          <a:p>
            <a:r>
              <a:rPr lang="en-US" sz="2000" dirty="0">
                <a:effectLst/>
                <a:latin typeface="Aptos" panose="020B0004020202020204" pitchFamily="34" charset="0"/>
                <a:ea typeface="Aptos" panose="020B0004020202020204" pitchFamily="34" charset="0"/>
                <a:cs typeface="Times New Roman" panose="02020603050405020304" pitchFamily="18" charset="0"/>
              </a:rPr>
              <a:t>Although </a:t>
            </a:r>
            <a:r>
              <a:rPr lang="en-US" sz="2000" dirty="0">
                <a:latin typeface="Aptos" panose="020B0004020202020204" pitchFamily="34" charset="0"/>
                <a:ea typeface="Aptos" panose="020B0004020202020204" pitchFamily="34" charset="0"/>
                <a:cs typeface="Times New Roman" panose="02020603050405020304" pitchFamily="18" charset="0"/>
              </a:rPr>
              <a:t>global sales have somewhat declined, performing diagnostic analysis has revealed </a:t>
            </a:r>
            <a:r>
              <a:rPr lang="en-US" sz="2000" dirty="0">
                <a:effectLst/>
                <a:latin typeface="Aptos" panose="020B0004020202020204" pitchFamily="34" charset="0"/>
                <a:ea typeface="Aptos" panose="020B0004020202020204" pitchFamily="34" charset="0"/>
                <a:cs typeface="Times New Roman" panose="02020603050405020304" pitchFamily="18" charset="0"/>
              </a:rPr>
              <a:t>that Europe sales proportions had started gaining traction and has been on an upward trend. As of 2016, Europe sales have eclipsed NA sales for the first time. 38% to NA’s 32% of the global sales. This challenges </a:t>
            </a:r>
            <a:r>
              <a:rPr lang="en-US" sz="2000" dirty="0" err="1">
                <a:effectLst/>
                <a:latin typeface="Aptos" panose="020B0004020202020204" pitchFamily="34" charset="0"/>
                <a:ea typeface="Aptos" panose="020B0004020202020204" pitchFamily="34" charset="0"/>
                <a:cs typeface="Times New Roman" panose="02020603050405020304" pitchFamily="18" charset="0"/>
              </a:rPr>
              <a:t>GameCo’s</a:t>
            </a:r>
            <a:r>
              <a:rPr lang="en-US" sz="2000" dirty="0">
                <a:effectLst/>
                <a:latin typeface="Aptos" panose="020B0004020202020204" pitchFamily="34" charset="0"/>
                <a:ea typeface="Aptos" panose="020B0004020202020204" pitchFamily="34" charset="0"/>
                <a:cs typeface="Times New Roman" panose="02020603050405020304" pitchFamily="18" charset="0"/>
              </a:rPr>
              <a:t> current understanding of sales staying the same</a:t>
            </a:r>
            <a:r>
              <a:rPr lang="en-US" sz="2000" dirty="0">
                <a:latin typeface="Aptos" panose="020B0004020202020204" pitchFamily="34" charset="0"/>
                <a:ea typeface="Aptos" panose="020B0004020202020204" pitchFamily="34" charset="0"/>
                <a:cs typeface="Times New Roman" panose="02020603050405020304" pitchFamily="18" charset="0"/>
              </a:rPr>
              <a:t>. </a:t>
            </a:r>
            <a:br>
              <a:rPr lang="en-US" sz="1800" dirty="0">
                <a:effectLst/>
                <a:latin typeface="Aptos" panose="020B0004020202020204" pitchFamily="34" charset="0"/>
                <a:ea typeface="Aptos" panose="020B0004020202020204" pitchFamily="34" charset="0"/>
                <a:cs typeface="Times New Roman" panose="02020603050405020304" pitchFamily="18" charset="0"/>
              </a:rPr>
            </a:br>
            <a:endParaRPr lang="en-US" sz="1800" dirty="0"/>
          </a:p>
        </p:txBody>
      </p:sp>
      <p:graphicFrame>
        <p:nvGraphicFramePr>
          <p:cNvPr id="5" name="Content Placeholder 4">
            <a:extLst>
              <a:ext uri="{FF2B5EF4-FFF2-40B4-BE49-F238E27FC236}">
                <a16:creationId xmlns:a16="http://schemas.microsoft.com/office/drawing/2014/main" id="{1E6C2741-DDA5-1144-AF52-C6BBE616AD73}"/>
              </a:ext>
            </a:extLst>
          </p:cNvPr>
          <p:cNvGraphicFramePr>
            <a:graphicFrameLocks noGrp="1"/>
          </p:cNvGraphicFramePr>
          <p:nvPr>
            <p:ph idx="1"/>
            <p:extLst>
              <p:ext uri="{D42A27DB-BD31-4B8C-83A1-F6EECF244321}">
                <p14:modId xmlns:p14="http://schemas.microsoft.com/office/powerpoint/2010/main" val="3144554441"/>
              </p:ext>
            </p:extLst>
          </p:nvPr>
        </p:nvGraphicFramePr>
        <p:xfrm>
          <a:off x="986481" y="1746121"/>
          <a:ext cx="10515600" cy="4351338"/>
        </p:xfrm>
        <a:graphic>
          <a:graphicData uri="http://schemas.openxmlformats.org/drawingml/2006/chart">
            <c:chart xmlns:c="http://schemas.openxmlformats.org/drawingml/2006/chart" xmlns:r="http://schemas.openxmlformats.org/officeDocument/2006/relationships" r:id="rId2"/>
          </a:graphicData>
        </a:graphic>
      </p:graphicFrame>
      <p:grpSp>
        <p:nvGrpSpPr>
          <p:cNvPr id="9" name="Group 8">
            <a:extLst>
              <a:ext uri="{FF2B5EF4-FFF2-40B4-BE49-F238E27FC236}">
                <a16:creationId xmlns:a16="http://schemas.microsoft.com/office/drawing/2014/main" id="{98E87656-91E5-E113-72F0-BDAE81F370AA}"/>
              </a:ext>
            </a:extLst>
          </p:cNvPr>
          <p:cNvGrpSpPr/>
          <p:nvPr/>
        </p:nvGrpSpPr>
        <p:grpSpPr>
          <a:xfrm>
            <a:off x="8103610" y="3144712"/>
            <a:ext cx="267840" cy="303840"/>
            <a:chOff x="8239534" y="3529382"/>
            <a:chExt cx="267840" cy="30384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AB8775E9-6910-7C88-A81F-B7F0A1F40CD5}"/>
                    </a:ext>
                  </a:extLst>
                </p14:cNvPr>
                <p14:cNvContentPartPr/>
                <p14:nvPr/>
              </p14:nvContentPartPr>
              <p14:xfrm>
                <a:off x="8282014" y="3529382"/>
                <a:ext cx="225360" cy="221400"/>
              </p14:xfrm>
            </p:contentPart>
          </mc:Choice>
          <mc:Fallback xmlns="">
            <p:pic>
              <p:nvPicPr>
                <p:cNvPr id="6" name="Ink 5">
                  <a:extLst>
                    <a:ext uri="{FF2B5EF4-FFF2-40B4-BE49-F238E27FC236}">
                      <a16:creationId xmlns:a16="http://schemas.microsoft.com/office/drawing/2014/main" id="{AB8775E9-6910-7C88-A81F-B7F0A1F40CD5}"/>
                    </a:ext>
                  </a:extLst>
                </p:cNvPr>
                <p:cNvPicPr/>
                <p:nvPr/>
              </p:nvPicPr>
              <p:blipFill>
                <a:blip r:embed="rId4"/>
                <a:stretch>
                  <a:fillRect/>
                </a:stretch>
              </p:blipFill>
              <p:spPr>
                <a:xfrm>
                  <a:off x="8275894" y="3523262"/>
                  <a:ext cx="23760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E0141F83-1366-1707-90B8-1056BF77724B}"/>
                    </a:ext>
                  </a:extLst>
                </p14:cNvPr>
                <p14:cNvContentPartPr/>
                <p14:nvPr/>
              </p14:nvContentPartPr>
              <p14:xfrm>
                <a:off x="8239534" y="3645302"/>
                <a:ext cx="136080" cy="187920"/>
              </p14:xfrm>
            </p:contentPart>
          </mc:Choice>
          <mc:Fallback xmlns="">
            <p:pic>
              <p:nvPicPr>
                <p:cNvPr id="7" name="Ink 6">
                  <a:extLst>
                    <a:ext uri="{FF2B5EF4-FFF2-40B4-BE49-F238E27FC236}">
                      <a16:creationId xmlns:a16="http://schemas.microsoft.com/office/drawing/2014/main" id="{E0141F83-1366-1707-90B8-1056BF77724B}"/>
                    </a:ext>
                  </a:extLst>
                </p:cNvPr>
                <p:cNvPicPr/>
                <p:nvPr/>
              </p:nvPicPr>
              <p:blipFill>
                <a:blip r:embed="rId6"/>
                <a:stretch>
                  <a:fillRect/>
                </a:stretch>
              </p:blipFill>
              <p:spPr>
                <a:xfrm>
                  <a:off x="8233414" y="3639182"/>
                  <a:ext cx="148320" cy="200160"/>
                </a:xfrm>
                <a:prstGeom prst="rect">
                  <a:avLst/>
                </a:prstGeom>
              </p:spPr>
            </p:pic>
          </mc:Fallback>
        </mc:AlternateContent>
      </p:grpSp>
      <p:sp>
        <p:nvSpPr>
          <p:cNvPr id="3" name="TextBox 2">
            <a:extLst>
              <a:ext uri="{FF2B5EF4-FFF2-40B4-BE49-F238E27FC236}">
                <a16:creationId xmlns:a16="http://schemas.microsoft.com/office/drawing/2014/main" id="{FB55E1A8-77A0-DEE0-9175-A6A56976F152}"/>
              </a:ext>
            </a:extLst>
          </p:cNvPr>
          <p:cNvSpPr txBox="1"/>
          <p:nvPr/>
        </p:nvSpPr>
        <p:spPr>
          <a:xfrm>
            <a:off x="1149178" y="6097459"/>
            <a:ext cx="9996617" cy="646331"/>
          </a:xfrm>
          <a:prstGeom prst="rect">
            <a:avLst/>
          </a:prstGeom>
          <a:noFill/>
        </p:spPr>
        <p:txBody>
          <a:bodyPr wrap="square" rtlCol="0">
            <a:spAutoFit/>
          </a:bodyPr>
          <a:lstStyle/>
          <a:p>
            <a:r>
              <a:rPr lang="en-US" dirty="0"/>
              <a:t>This chart visualizes total sales in each region in proportion to global sales. I choose this chart to demonstrate the fact this rise in Europe sales may represent new market growth opportunity. </a:t>
            </a:r>
          </a:p>
        </p:txBody>
      </p:sp>
    </p:spTree>
    <p:extLst>
      <p:ext uri="{BB962C8B-B14F-4D97-AF65-F5344CB8AC3E}">
        <p14:creationId xmlns:p14="http://schemas.microsoft.com/office/powerpoint/2010/main" val="1098819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679B6-D9EE-06D7-1A4F-E00F49E43FAC}"/>
              </a:ext>
            </a:extLst>
          </p:cNvPr>
          <p:cNvSpPr>
            <a:spLocks noGrp="1"/>
          </p:cNvSpPr>
          <p:nvPr>
            <p:ph type="title"/>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As of 2016 , Europe game sales of 26.76 million units have surpassed North America’s 22.66 million units (figure3). That is a significant difference of 16.58%. This allows to make predictions of how sales may perform in the future. If sales continue on this trend, we can see sales numbers increase in the Europe market. </a:t>
            </a:r>
            <a:endParaRPr lang="en-US" dirty="0"/>
          </a:p>
        </p:txBody>
      </p:sp>
      <p:graphicFrame>
        <p:nvGraphicFramePr>
          <p:cNvPr id="6" name="Content Placeholder 5">
            <a:extLst>
              <a:ext uri="{FF2B5EF4-FFF2-40B4-BE49-F238E27FC236}">
                <a16:creationId xmlns:a16="http://schemas.microsoft.com/office/drawing/2014/main" id="{4BDE9C69-FF34-A788-77DD-302C966807F2}"/>
              </a:ext>
            </a:extLst>
          </p:cNvPr>
          <p:cNvGraphicFramePr>
            <a:graphicFrameLocks noGrp="1"/>
          </p:cNvGraphicFramePr>
          <p:nvPr>
            <p:ph idx="1"/>
            <p:extLst>
              <p:ext uri="{D42A27DB-BD31-4B8C-83A1-F6EECF244321}">
                <p14:modId xmlns:p14="http://schemas.microsoft.com/office/powerpoint/2010/main" val="939253360"/>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BB83E323-CDCC-1AFB-FACB-5DD3D739985E}"/>
              </a:ext>
            </a:extLst>
          </p:cNvPr>
          <p:cNvSpPr txBox="1"/>
          <p:nvPr/>
        </p:nvSpPr>
        <p:spPr>
          <a:xfrm>
            <a:off x="1322173" y="6339016"/>
            <a:ext cx="9465276" cy="369332"/>
          </a:xfrm>
          <a:prstGeom prst="rect">
            <a:avLst/>
          </a:prstGeom>
          <a:noFill/>
        </p:spPr>
        <p:txBody>
          <a:bodyPr wrap="square" rtlCol="0">
            <a:spAutoFit/>
          </a:bodyPr>
          <a:lstStyle/>
          <a:p>
            <a:r>
              <a:rPr lang="en-US" dirty="0"/>
              <a:t>Filtered the data to display sales figures from 2014 – 2016 for all regions</a:t>
            </a:r>
          </a:p>
        </p:txBody>
      </p:sp>
    </p:spTree>
    <p:extLst>
      <p:ext uri="{BB962C8B-B14F-4D97-AF65-F5344CB8AC3E}">
        <p14:creationId xmlns:p14="http://schemas.microsoft.com/office/powerpoint/2010/main" val="3084116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55C44-08E0-B30D-B899-E50AC29810FA}"/>
              </a:ext>
            </a:extLst>
          </p:cNvPr>
          <p:cNvSpPr>
            <a:spLocks noGrp="1"/>
          </p:cNvSpPr>
          <p:nvPr>
            <p:ph type="title"/>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The Europe market is performing better than its closest competitor North America in almost all major game categories. In particular, action and shooter category, where NA has always led in the past. If we can utilize marketing resources to uncover what is leading people to buy more games in Europe, it would lead to increasing revenue. </a:t>
            </a:r>
            <a:endParaRPr lang="en-US" dirty="0"/>
          </a:p>
        </p:txBody>
      </p:sp>
      <p:graphicFrame>
        <p:nvGraphicFramePr>
          <p:cNvPr id="6" name="Content Placeholder 5">
            <a:extLst>
              <a:ext uri="{FF2B5EF4-FFF2-40B4-BE49-F238E27FC236}">
                <a16:creationId xmlns:a16="http://schemas.microsoft.com/office/drawing/2014/main" id="{C586F573-F198-FD1F-84C3-FC6EF7E09C21}"/>
              </a:ext>
            </a:extLst>
          </p:cNvPr>
          <p:cNvGraphicFramePr>
            <a:graphicFrameLocks noGrp="1"/>
          </p:cNvGraphicFramePr>
          <p:nvPr>
            <p:ph idx="1"/>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5665B3E1-F38D-308E-DDEE-E5DD81BAB560}"/>
              </a:ext>
            </a:extLst>
          </p:cNvPr>
          <p:cNvSpPr txBox="1"/>
          <p:nvPr/>
        </p:nvSpPr>
        <p:spPr>
          <a:xfrm>
            <a:off x="1383957" y="6301946"/>
            <a:ext cx="9626994" cy="369332"/>
          </a:xfrm>
          <a:prstGeom prst="rect">
            <a:avLst/>
          </a:prstGeom>
          <a:noFill/>
        </p:spPr>
        <p:txBody>
          <a:bodyPr wrap="none" rtlCol="0">
            <a:spAutoFit/>
          </a:bodyPr>
          <a:lstStyle/>
          <a:p>
            <a:r>
              <a:rPr lang="en-US" dirty="0"/>
              <a:t>This chat is filtered to show sales of the top genre sales of 2016 between Europe, NA and Japan. </a:t>
            </a:r>
          </a:p>
        </p:txBody>
      </p:sp>
    </p:spTree>
    <p:extLst>
      <p:ext uri="{BB962C8B-B14F-4D97-AF65-F5344CB8AC3E}">
        <p14:creationId xmlns:p14="http://schemas.microsoft.com/office/powerpoint/2010/main" val="1623337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B24F3-5194-E36E-BC13-8D95D6EA6566}"/>
              </a:ext>
            </a:extLst>
          </p:cNvPr>
          <p:cNvSpPr>
            <a:spLocks noGrp="1"/>
          </p:cNvSpPr>
          <p:nvPr>
            <p:ph type="title"/>
          </p:nvPr>
        </p:nvSpPr>
        <p:spPr/>
        <p:txBody>
          <a:bodyPr/>
          <a:lstStyle/>
          <a:p>
            <a:r>
              <a:rPr lang="en-US" dirty="0"/>
              <a:t>Recommended Action</a:t>
            </a:r>
          </a:p>
        </p:txBody>
      </p:sp>
      <p:sp>
        <p:nvSpPr>
          <p:cNvPr id="3" name="Content Placeholder 2">
            <a:extLst>
              <a:ext uri="{FF2B5EF4-FFF2-40B4-BE49-F238E27FC236}">
                <a16:creationId xmlns:a16="http://schemas.microsoft.com/office/drawing/2014/main" id="{F53D43A8-FAA5-2274-E6E2-87EC651815B4}"/>
              </a:ext>
            </a:extLst>
          </p:cNvPr>
          <p:cNvSpPr>
            <a:spLocks noGrp="1"/>
          </p:cNvSpPr>
          <p:nvPr>
            <p:ph idx="1"/>
          </p:nvPr>
        </p:nvSpPr>
        <p:spPr>
          <a:xfrm>
            <a:off x="838200" y="1417852"/>
            <a:ext cx="10515600" cy="4351338"/>
          </a:xfrm>
        </p:spPr>
        <p:txBody>
          <a:bodyPr>
            <a:normAutofit/>
          </a:bodyPr>
          <a:lstStyle/>
          <a:p>
            <a:pPr marL="0" indent="0">
              <a:buNone/>
            </a:pPr>
            <a:endParaRPr lang="en-US" sz="1800" dirty="0"/>
          </a:p>
          <a:p>
            <a:r>
              <a:rPr lang="en-US" sz="1800" dirty="0"/>
              <a:t>Continuing to allocate sales resources in North American, since it still accounts for 32% of global sales. I would recommend continuing to allocate resources to improving and developing new games, specifically Action, Shooter and sports genres. </a:t>
            </a:r>
          </a:p>
          <a:p>
            <a:r>
              <a:rPr lang="en-US" sz="1800" dirty="0"/>
              <a:t>There is a certain swing in the market backed by strong sales figures as we have seen. Its most recent 38% market share represents a huge opportunity for </a:t>
            </a:r>
            <a:r>
              <a:rPr lang="en-US" sz="1800" dirty="0" err="1"/>
              <a:t>GamCo</a:t>
            </a:r>
            <a:r>
              <a:rPr lang="en-US" sz="1800" dirty="0"/>
              <a:t> in terms of revenue growth. I would recommend to allocate resources to develop and improve games and reach the new users, specially in the Sports, Shooter and Action genre.</a:t>
            </a:r>
          </a:p>
          <a:p>
            <a:r>
              <a:rPr lang="en-US" sz="1800" dirty="0"/>
              <a:t>As for in Japan, we have seen some rise in sales proportion in 2016 compared to 2015, mostly due to increased sales in the role playing genre. I would recommend to increase effort to developing and improving role playing games as Japan has always been the region for role playing </a:t>
            </a:r>
            <a:r>
              <a:rPr lang="en-US" sz="1800"/>
              <a:t>game sales. </a:t>
            </a:r>
            <a:endParaRPr lang="en-US" sz="1800" dirty="0"/>
          </a:p>
          <a:p>
            <a:endParaRPr lang="en-US" sz="1800" dirty="0"/>
          </a:p>
          <a:p>
            <a:endParaRPr lang="en-US" sz="1800" dirty="0"/>
          </a:p>
          <a:p>
            <a:pPr marL="0" indent="0">
              <a:buNone/>
            </a:pPr>
            <a:r>
              <a:rPr lang="en-US" sz="1800" dirty="0"/>
              <a:t>	</a:t>
            </a:r>
          </a:p>
          <a:p>
            <a:endParaRPr lang="en-US" sz="1800" dirty="0"/>
          </a:p>
        </p:txBody>
      </p:sp>
    </p:spTree>
    <p:extLst>
      <p:ext uri="{BB962C8B-B14F-4D97-AF65-F5344CB8AC3E}">
        <p14:creationId xmlns:p14="http://schemas.microsoft.com/office/powerpoint/2010/main" val="2657631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7919</TotalTime>
  <Words>745</Words>
  <Application>Microsoft Macintosh PowerPoint</Application>
  <PresentationFormat>Widescreen</PresentationFormat>
  <Paragraphs>72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GameCo</vt:lpstr>
      <vt:lpstr>Upon performing descriptive analysis of the last decade, I’ve come to understand that video game sales have in fact stayed the somewhat same and as of 2016 have seen a record low number of sales. If you take a look the the line chart below, you can see that sale figures across some of the most popular game genres from 2006 to 2016. This chart represents total number of unites sold of top genres across various geographical regions (NA, EU, JP and other).  </vt:lpstr>
      <vt:lpstr>Here is a further breakdown of the game sales figures, Here we can see specific genre sales performance for each region. </vt:lpstr>
      <vt:lpstr>Although global sales have somewhat declined, performing diagnostic analysis has revealed that Europe sales proportions had started gaining traction and has been on an upward trend. As of 2016, Europe sales have eclipsed NA sales for the first time. 38% to NA’s 32% of the global sales. This challenges GameCo’s current understanding of sales staying the same.  </vt:lpstr>
      <vt:lpstr>As of 2016 , Europe game sales of 26.76 million units have surpassed North America’s 22.66 million units (figure3). That is a significant difference of 16.58%. This allows to make predictions of how sales may perform in the future. If sales continue on this trend, we can see sales numbers increase in the Europe market. </vt:lpstr>
      <vt:lpstr>The Europe market is performing better than its closest competitor North America in almost all major game categories. In particular, action and shooter category, where NA has always led in the past. If we can utilize marketing resources to uncover what is leading people to buy more games in Europe, it would lead to increasing revenue. </vt:lpstr>
      <vt:lpstr>Recommended 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mohammed molla</dc:creator>
  <cp:lastModifiedBy>mohammed molla</cp:lastModifiedBy>
  <cp:revision>10</cp:revision>
  <dcterms:created xsi:type="dcterms:W3CDTF">2024-10-09T16:45:50Z</dcterms:created>
  <dcterms:modified xsi:type="dcterms:W3CDTF">2024-10-16T02:36:02Z</dcterms:modified>
</cp:coreProperties>
</file>